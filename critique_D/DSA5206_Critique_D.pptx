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only ever fits ordinary least squares. The five rows of Table 1 differ only in which inputs go in: one logit, four logits, all eighteen, the 1024-dimensional feature vector, or nothing at all. So the only baseline is a constant that predicts the training mean, which is a very low bar. There is no regularised model, no non-linear model, no other encoder and no comparison with any other published severity method. The paper also says the predictions look reasonable given rater agreement, but it never puts the model error next to the radiologists’ own disagreement. In checklist terms this is the missing-baseline bias. That is exactly what our Part II tests: alternative models, evaluated on the same 50 patient-grouped splits as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validation set. Section 2.5 says the final model was chosen only by training-set MSE. If you actually apply that rule, the 1024-feature model wins every time: with about 47 training images and 1024 features it interpolates the training set, so training MSE is essentially zero. Yet it has the worst test error. The paper reports the single lung-opacity logit instead, which can only have come from looking at Table 1, which is test performance. To measure how much that matters, we re-selected the feature set inside each training half with 5-fold patient-grouped cross-validation and only then scored the test half. Opacity MAE goes from 0.788 to 0.807 and extent from 1.161 to 1.209, so about 2 to 4 percent worse. The headline holds but is slightly optimistic. Also, the single logit is chosen in only 26 to 29 of the 50 inner selections, so “one feature is best” is not stable. The right panel shows the bias–variance picture. Bottom row: Part I reproduced the numbers closely, the 50 splits overlap so their standard deviation is not a confidence interval, and all images come from one public collection with no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residuals against the expert score, pooled over all 50 test splits, so each image appears about 25 times. For opacity, images the experts scored 1 or below are over-predicted by 0.72 on average, and images above 4 are under-predicted by 0.87. Extent shows the same pattern: plus 0.86 and minus 1.07. The paper notices this in Figure 2 but calls the predictions reasonable. Be careful how we describe it, though. Bottom row: when we group by the prediction instead of the truth, the model is well calibrated, with a slope of about 1.0. This is regression to the mean, and it happens for any regression with R squared below one. So the criticism is not that the model is miscalibrated. The criticism is that its predicted range is compressed: the patients who matter most for escalating to ICU care are systematically scored about one point too low, and the paper does not quantify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remaining training questions from the lecture checklist. First, credit where it is due: the split is done by patient. There are 65 patients and some contribute up to four films, but all films of one patient always land on the same side, which we verified in all 50 splits, so there is no data leakage of the kind the lecture warns about. Second, imbalance. Only 7 of 94 images have an opacity score of 5 or more, and 18 have extent 6 or more. The paper does nothing about this, no reweighting and no stratified splits, which is one reason the severe cases are underestimated, as shown on the previous slide. Third, explainability. The paper shows four saliency maps that the authors picked, two correct and two wrong, and notes the model looks at the heart and diaphragm. There is no quantitative check and no SHAP. Comparing 1, 4, 18 and 1024 features is effectively the only ablation. Fourth, subgroup performance, which the lecture recommends reporting, is not reported. We computed it from the Part I predictions: errors are similar for women and men, and extent error is highest for patients aged 50 to 64. With only 19 to 29 images per group this is a signal, not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deployment problems. First, the output is unconstrained: 3.8 percent of opacity predictions and 5.9 percent of extent predictions fall outside the valid score range, mostly as negative severity. That involves only 5 and 11 distinct images, but a clinician would see a meaningless number. Simply clipping to the valid range would have lowered extent MAE from 1.16 to 1.10, and opacity from 0.79 to 0.77. Second, the use case is the ICU, where most films are portable bedside AP views, but the study evaluates PA films only. And even the PA label is not reliable: in the current dataset metadata, 11 of the 94 images have been relabelled AP or AP supine, and one has been removed. Third, compare what the authors admit with what they do not. They acknowledge the small sample, no external cohort, no link to outcomes, and the limits of saliency maps. They do not mention the test-set selection, the out-of-range outputs, the underestimation of severe cases, the PA versus AP mismatch, or any plan for uncertainty, concept drift, or the human–AI biases from the lecture: automation bias, where an ICU team over-trusts a low score, and feedback-loop bias if the tool is later retrained on its own accepted outputs. Conclusion: a useful proof-of-concept study, but not ready for clinical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critique, this table goes through every question on the Lecture 9 checklist, from data collection to deployment, with our verdict and one line of evidence. The study does well on openness: code, data and labels are public, and our Part I reproduced the results within 0.02 MAE. It also avoids patient leakage. But most other boxes are only partly met or not met: a convenience sample from web sources, a PA inclusion criterion that 17 images fail, missing data the paper says does not exist, a single model family compared only with a constant, model selection on the test set, no calibration, imbalance or subgroup analysis, and only hand-picked saliency maps for explainability. Our overall verdict matches the lecture’s wording for its own example: a useful proof-of-concept study, but not ready for clinical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50"/>
            <a:ext cx="10566400" cy="42291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50"/>
            <a:ext cx="10566400" cy="42291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③ MODEL SELECTION</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One model family, one trivial baseline</a:t>
            </a:r>
            <a:endParaRPr lang="en-US" sz="2800" dirty="0"/>
          </a:p>
        </p:txBody>
      </p:sp>
      <p:sp>
        <p:nvSpPr>
          <p:cNvPr id="4" name="Shape 2"/>
          <p:cNvSpPr/>
          <p:nvPr/>
        </p:nvSpPr>
        <p:spPr>
          <a:xfrm>
            <a:off x="815975" y="1717625"/>
            <a:ext cx="5175250" cy="3534470"/>
          </a:xfrm>
          <a:prstGeom prst="roundRect">
            <a:avLst>
              <a:gd name="adj" fmla="val 2785"/>
            </a:avLst>
          </a:prstGeom>
          <a:solidFill>
            <a:srgbClr val="FDFDFB"/>
          </a:solidFill>
          <a:ln w="6350">
            <a:solidFill>
              <a:srgbClr val="DAD7CE"/>
            </a:solidFill>
            <a:prstDash val="solid"/>
          </a:ln>
        </p:spPr>
      </p:sp>
      <p:sp>
        <p:nvSpPr>
          <p:cNvPr id="5" name="Text 3"/>
          <p:cNvSpPr/>
          <p:nvPr/>
        </p:nvSpPr>
        <p:spPr>
          <a:xfrm>
            <a:off x="1022350" y="1924000"/>
            <a:ext cx="490537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What the paper compared</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261791"/>
          <a:ext cx="4749800" cy="1996083"/>
        </p:xfrm>
        <a:graphic>
          <a:graphicData uri="http://schemas.openxmlformats.org/drawingml/2006/table">
            <a:tbl>
              <a:tblPr/>
              <a:tblGrid>
                <a:gridCol w="2944876"/>
                <a:gridCol w="1804924"/>
              </a:tblGrid>
              <a:tr h="332680">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Input to linear regression</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r" indent="0" marL="0">
                        <a:lnSpc>
                          <a:spcPts val="1680"/>
                        </a:lnSpc>
                        <a:buNone/>
                      </a:pPr>
                      <a:r>
                        <a:rPr lang="en-US" sz="1200" b="1" dirty="0">
                          <a:solidFill>
                            <a:srgbClr val="3E4A5C"/>
                          </a:solidFill>
                          <a:latin typeface="Arial" pitchFamily="34" charset="0"/>
                          <a:ea typeface="Arial" pitchFamily="34" charset="-122"/>
                          <a:cs typeface="Arial" pitchFamily="34" charset="-120"/>
                        </a:rPr>
                        <a:t>Parameters</a:t>
                      </a:r>
                      <a:endParaRPr lang="en-US" sz="1200" dirty="0">
                        <a:latin typeface="Arial" charset="0"/>
                        <a:ea typeface="Arial" charset="0"/>
                        <a:cs typeface="Arial" charset="0"/>
                      </a:endParaRPr>
                    </a:p>
                  </a:txBody>
                  <a:tcPr marL="53340" marR="53340" marT="53340" marB="5334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“Lung opacity” logit</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 + 1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4 pneumonia logits</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4 + 1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All 18 logits</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18 + 1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1024 DenseNet features</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1024 + 1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No data (constant)</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0 + 1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bl>
          </a:graphicData>
        </a:graphic>
      </p:graphicFrame>
      <p:sp>
        <p:nvSpPr>
          <p:cNvPr id="7" name="Text 4"/>
          <p:cNvSpPr/>
          <p:nvPr/>
        </p:nvSpPr>
        <p:spPr>
          <a:xfrm>
            <a:off x="1022350" y="4384873"/>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Every row is ordinary least squares on one frozen DenseNet-121. Only the input changes.</a:t>
            </a:r>
            <a:endParaRPr lang="en-US" sz="1200" dirty="0"/>
          </a:p>
        </p:txBody>
      </p:sp>
      <p:sp>
        <p:nvSpPr>
          <p:cNvPr id="8" name="Shape 5"/>
          <p:cNvSpPr/>
          <p:nvPr/>
        </p:nvSpPr>
        <p:spPr>
          <a:xfrm>
            <a:off x="6200775" y="1717625"/>
            <a:ext cx="5175250" cy="3534470"/>
          </a:xfrm>
          <a:prstGeom prst="roundRect">
            <a:avLst>
              <a:gd name="adj" fmla="val 2785"/>
            </a:avLst>
          </a:prstGeom>
          <a:solidFill>
            <a:srgbClr val="FDFDFB"/>
          </a:solidFill>
          <a:ln w="6350">
            <a:solidFill>
              <a:srgbClr val="DAD7CE"/>
            </a:solidFill>
            <a:prstDash val="solid"/>
          </a:ln>
        </p:spPr>
      </p:sp>
      <p:sp>
        <p:nvSpPr>
          <p:cNvPr id="9" name="Text 6"/>
          <p:cNvSpPr/>
          <p:nvPr/>
        </p:nvSpPr>
        <p:spPr>
          <a:xfrm>
            <a:off x="6407150" y="1924000"/>
            <a:ext cx="490537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What was never compared</a:t>
            </a:r>
            <a:endParaRPr lang="en-US" sz="1300" dirty="0"/>
          </a:p>
        </p:txBody>
      </p:sp>
      <p:sp>
        <p:nvSpPr>
          <p:cNvPr id="10" name="Text 7"/>
          <p:cNvSpPr/>
          <p:nvPr/>
        </p:nvSpPr>
        <p:spPr>
          <a:xfrm>
            <a:off x="6518656" y="2249091"/>
            <a:ext cx="4786249" cy="1092002"/>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Regularised linear models (Ridge, Lasso)</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Non-linear regressors (random forest, SVR, gradient boosting)</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Other pretrained encoders</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Any published CXR severity model</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Radiologist disagreement as a reference error</a:t>
            </a:r>
            <a:endParaRPr lang="en-US" sz="1200" dirty="0"/>
          </a:p>
        </p:txBody>
      </p:sp>
      <p:sp>
        <p:nvSpPr>
          <p:cNvPr id="11" name="Text 8"/>
          <p:cNvSpPr/>
          <p:nvPr/>
        </p:nvSpPr>
        <p:spPr>
          <a:xfrm>
            <a:off x="6407150" y="3442692"/>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B"/>
                </a:solidFill>
                <a:latin typeface="Arial" pitchFamily="34" charset="0"/>
                <a:ea typeface="Arial" pitchFamily="34" charset="-122"/>
                <a:cs typeface="Arial" pitchFamily="34" charset="-120"/>
              </a:rPr>
              <a:t>Bias: missing baseline comparison</a:t>
            </a:r>
            <a:endParaRPr lang="en-US" sz="1200" dirty="0"/>
          </a:p>
        </p:txBody>
      </p:sp>
      <p:sp>
        <p:nvSpPr>
          <p:cNvPr id="12" name="Text 9"/>
          <p:cNvSpPr/>
          <p:nvPr/>
        </p:nvSpPr>
        <p:spPr>
          <a:xfrm>
            <a:off x="812800" y="5458470"/>
            <a:ext cx="10566400" cy="586730"/>
          </a:xfrm>
          <a:prstGeom prst="roundRect">
            <a:avLst>
              <a:gd name="adj" fmla="val 17316"/>
            </a:avLst>
          </a:prstGeom>
          <a:solidFill>
            <a:srgbClr val="14213D"/>
          </a:solidFill>
          <a:ln/>
        </p:spPr>
        <p:txBody>
          <a:bodyPr wrap="square" lIns="173442" tIns="148042" rIns="0" bIns="122642" rtlCol="0" anchor="t">
            <a:normAutofit/>
          </a:bodyPr>
          <a:lstStyle/>
          <a:p>
            <a:pPr algn="l" indent="0" marL="0">
              <a:lnSpc>
                <a:spcPts val="1820"/>
              </a:lnSpc>
              <a:buNone/>
            </a:pPr>
            <a:r>
              <a:rPr lang="en-US" sz="1300" dirty="0">
                <a:solidFill>
                  <a:srgbClr val="F7F6F2"/>
                </a:solidFill>
                <a:latin typeface="Arial" pitchFamily="34" charset="0"/>
                <a:ea typeface="Arial" pitchFamily="34" charset="-122"/>
                <a:cs typeface="Arial" pitchFamily="34" charset="-120"/>
              </a:rPr>
              <a:t>→ Part II fills this gap: alternative models on the same features and the same 50 patient-grouped splits.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④ MODEL TRAINING (1/3) · DEVELOPER COGNITIVE BIAS</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The final feature set was picked on the test set</a:t>
            </a:r>
            <a:endParaRPr lang="en-US" sz="2800" dirty="0"/>
          </a:p>
        </p:txBody>
      </p:sp>
      <p:sp>
        <p:nvSpPr>
          <p:cNvPr id="4" name="Shape 2"/>
          <p:cNvSpPr/>
          <p:nvPr/>
        </p:nvSpPr>
        <p:spPr>
          <a:xfrm>
            <a:off x="815975" y="1717625"/>
            <a:ext cx="6292850" cy="3491359"/>
          </a:xfrm>
          <a:prstGeom prst="roundRect">
            <a:avLst>
              <a:gd name="adj" fmla="val 2819"/>
            </a:avLst>
          </a:prstGeom>
          <a:solidFill>
            <a:srgbClr val="FDFDFB"/>
          </a:solidFill>
          <a:ln w="6350">
            <a:solidFill>
              <a:srgbClr val="DAD7CE"/>
            </a:solidFill>
            <a:prstDash val="solid"/>
          </a:ln>
        </p:spPr>
      </p:sp>
      <p:sp>
        <p:nvSpPr>
          <p:cNvPr id="5" name="Text 3"/>
          <p:cNvSpPr/>
          <p:nvPr/>
        </p:nvSpPr>
        <p:spPr>
          <a:xfrm>
            <a:off x="1022350" y="1924000"/>
            <a:ext cx="60565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No validation set. The paper says the final model was chosen by training MSE. We re-ran each rule on the same 50 splits: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490341"/>
          <a:ext cx="5867400" cy="1876723"/>
        </p:xfrm>
        <a:graphic>
          <a:graphicData uri="http://schemas.openxmlformats.org/drawingml/2006/table">
            <a:tbl>
              <a:tblPr/>
              <a:tblGrid>
                <a:gridCol w="3637788"/>
                <a:gridCol w="1114806"/>
                <a:gridCol w="1114806"/>
              </a:tblGrid>
              <a:tr h="546001">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Selection rule</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r" indent="0" marL="0">
                        <a:lnSpc>
                          <a:spcPts val="1680"/>
                        </a:lnSpc>
                        <a:buNone/>
                      </a:pPr>
                      <a:r>
                        <a:rPr lang="en-US" sz="1200" b="1" dirty="0">
                          <a:solidFill>
                            <a:srgbClr val="3E4A5C"/>
                          </a:solidFill>
                          <a:latin typeface="Arial" pitchFamily="34" charset="0"/>
                          <a:ea typeface="Arial" pitchFamily="34" charset="-122"/>
                          <a:cs typeface="Arial" pitchFamily="34" charset="-120"/>
                        </a:rPr>
                        <a:t>Opacity MAE</a:t>
                      </a:r>
                      <a:endParaRPr lang="en-US" sz="1200" dirty="0">
                        <a:latin typeface="Arial" charset="0"/>
                        <a:ea typeface="Arial" charset="0"/>
                        <a:cs typeface="Arial" charset="0"/>
                      </a:endParaRPr>
                    </a:p>
                  </a:txBody>
                  <a:tcPr marL="53340" marR="53340" marT="53340" marB="5334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c>
                  <a:txBody>
                    <a:bodyPr/>
                    <a:lstStyle/>
                    <a:p>
                      <a:pPr algn="r" indent="0" marL="0">
                        <a:lnSpc>
                          <a:spcPts val="1680"/>
                        </a:lnSpc>
                        <a:buNone/>
                      </a:pPr>
                      <a:r>
                        <a:rPr lang="en-US" sz="1200" b="1" dirty="0">
                          <a:solidFill>
                            <a:srgbClr val="3E4A5C"/>
                          </a:solidFill>
                          <a:latin typeface="Arial" pitchFamily="34" charset="0"/>
                          <a:ea typeface="Arial" pitchFamily="34" charset="-122"/>
                          <a:cs typeface="Arial" pitchFamily="34" charset="-120"/>
                        </a:rPr>
                        <a:t>Extent MAE</a:t>
                      </a:r>
                      <a:endParaRPr lang="en-US" sz="1200" dirty="0">
                        <a:latin typeface="Arial" charset="0"/>
                        <a:ea typeface="Arial" charset="0"/>
                        <a:cs typeface="Arial" charset="0"/>
                      </a:endParaRPr>
                    </a:p>
                  </a:txBody>
                  <a:tcPr marL="53340" marR="53340" marT="53340" marB="53340" anchor="t">
                    <a:lnL w="12700" cap="flat" cmpd="sng" algn="ctr">
                      <a:solidFill>
                        <a:srgbClr val="BBBBB9"/>
                      </a:solidFill>
                      <a:prstDash val="solid"/>
                      <a:round/>
                      <a:headEnd type="none" w="med" len="med"/>
                      <a:tailEnd type="none" w="med" len="med"/>
                    </a:lnL>
                    <a:lnR w="12700" cap="flat" cmpd="sng" algn="ctr">
                      <a:solidFill>
                        <a:srgbClr val="BBBBB9"/>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BBBBB9"/>
                      </a:solidFill>
                      <a:prstDash val="solid"/>
                      <a:round/>
                      <a:headEnd type="none" w="med" len="med"/>
                      <a:tailEnd type="none" w="med" len="med"/>
                    </a:lnB>
                    <a:solidFill>
                      <a:srgbClr val="EAEAE8"/>
                    </a:solidFill>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Paper: “1 logit”, picked from Table 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0.788</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1.161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BBBBB9"/>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Paper’s stated rule: training MSE</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1.012</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1.341</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Nested grouped CV (honest)</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0.807</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1.209</a:t>
                      </a:r>
                      <a:endParaRPr lang="en-US" sz="1200" dirty="0">
                        <a:latin typeface="Arial" charset="0"/>
                        <a:ea typeface="Arial" charset="0"/>
                        <a:cs typeface="Arial" charset="0"/>
                      </a:endParaRPr>
                    </a:p>
                  </a:txBody>
                  <a:tcPr marL="53340" marR="53340" marT="53340" marB="53340" anchor="t">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Best on each test split (cheating)</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0.744</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algn="r" indent="0" marL="0">
                        <a:lnSpc>
                          <a:spcPts val="1680"/>
                        </a:lnSpc>
                        <a:buNone/>
                      </a:pPr>
                      <a:r>
                        <a:rPr lang="en-US" sz="1200" dirty="0">
                          <a:solidFill>
                            <a:srgbClr val="3E4A5C"/>
                          </a:solidFill>
                          <a:latin typeface="Arial" pitchFamily="34" charset="0"/>
                          <a:ea typeface="Arial" pitchFamily="34" charset="-122"/>
                          <a:cs typeface="Arial" pitchFamily="34" charset="-120"/>
                        </a:rPr>
                        <a:t>1.118</a:t>
                      </a:r>
                      <a:endParaRPr lang="en-US" sz="1200" dirty="0">
                        <a:latin typeface="Arial" charset="0"/>
                        <a:ea typeface="Arial" charset="0"/>
                        <a:cs typeface="Arial" charset="0"/>
                      </a:endParaRPr>
                    </a:p>
                  </a:txBody>
                  <a:tcPr marL="53340" marR="53340" marT="53340" marB="53340"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bl>
          </a:graphicData>
        </a:graphic>
      </p:graphicFrame>
      <p:sp>
        <p:nvSpPr>
          <p:cNvPr id="7" name="Text 4"/>
          <p:cNvSpPr/>
          <p:nvPr/>
        </p:nvSpPr>
        <p:spPr>
          <a:xfrm>
            <a:off x="1022350" y="4494064"/>
            <a:ext cx="605650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Training MSE picks 1024 features in 50 of 50 splits.</a:t>
            </a:r>
            <a:r>
              <a:rPr lang="en-US" sz="1200" dirty="0">
                <a:solidFill>
                  <a:srgbClr val="14213D"/>
                </a:solidFill>
                <a:latin typeface="Arial" pitchFamily="34" charset="0"/>
                <a:ea typeface="Arial" pitchFamily="34" charset="-122"/>
                <a:cs typeface="Arial" pitchFamily="34" charset="-120"/>
              </a:rPr>
              <a:t> Honest selection costs 2–4% MAE: the trend survives, the number is slightly optimistic.</a:t>
            </a:r>
            <a:endParaRPr lang="en-US" sz="1200" dirty="0"/>
          </a:p>
        </p:txBody>
      </p:sp>
      <p:sp>
        <p:nvSpPr>
          <p:cNvPr id="8" name="Shape 5"/>
          <p:cNvSpPr/>
          <p:nvPr/>
        </p:nvSpPr>
        <p:spPr>
          <a:xfrm>
            <a:off x="7318375" y="1717625"/>
            <a:ext cx="4057650" cy="3491359"/>
          </a:xfrm>
          <a:prstGeom prst="roundRect">
            <a:avLst>
              <a:gd name="adj" fmla="val 2819"/>
            </a:avLst>
          </a:prstGeom>
          <a:solidFill>
            <a:srgbClr val="FDFDFB"/>
          </a:solidFill>
          <a:ln w="6350">
            <a:solidFill>
              <a:srgbClr val="DAD7CE"/>
            </a:solidFill>
            <a:prstDash val="solid"/>
          </a:ln>
        </p:spPr>
      </p:sp>
      <p:sp>
        <p:nvSpPr>
          <p:cNvPr id="9" name="Text 6"/>
          <p:cNvSpPr/>
          <p:nvPr/>
        </p:nvSpPr>
        <p:spPr>
          <a:xfrm>
            <a:off x="7524750" y="1924000"/>
            <a:ext cx="375424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Bias vs variance</a:t>
            </a:r>
            <a:endParaRPr lang="en-US" sz="1300" dirty="0"/>
          </a:p>
        </p:txBody>
      </p:sp>
      <p:pic>
        <p:nvPicPr>
          <p:cNvPr id="10" name="Image 0" descr="Bar charts of mean train and test MSE for each feature set, opacity and extent. 1024 features have near-zero train MSE but the highest test MSE among non-constant models.">    </p:cNvPr>
          <p:cNvPicPr>
            <a:picLocks noChangeAspect="1"/>
          </p:cNvPicPr>
          <p:nvPr/>
        </p:nvPicPr>
        <p:blipFill>
          <a:blip r:embed="rId1"/>
          <a:srcRect l="0" r="0" t="-130" b="-130"/>
          <a:stretch/>
        </p:blipFill>
        <p:spPr>
          <a:xfrm>
            <a:off x="7524750" y="2223691"/>
            <a:ext cx="3657600" cy="1333500"/>
          </a:xfrm>
          <a:prstGeom prst="rect">
            <a:avLst/>
          </a:prstGeom>
        </p:spPr>
      </p:pic>
      <p:sp>
        <p:nvSpPr>
          <p:cNvPr id="11" name="Text 7"/>
          <p:cNvSpPr/>
          <p:nvPr/>
        </p:nvSpPr>
        <p:spPr>
          <a:xfrm>
            <a:off x="7524750" y="3658791"/>
            <a:ext cx="37542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1024 features: train MSE ≈ 0 on ~47 images, worst test MSE. 1 logit: train ≈ test, bias-limited.</a:t>
            </a:r>
            <a:endParaRPr lang="en-US" sz="1200" dirty="0"/>
          </a:p>
        </p:txBody>
      </p:sp>
      <p:sp>
        <p:nvSpPr>
          <p:cNvPr id="12" name="Text 8"/>
          <p:cNvSpPr/>
          <p:nvPr/>
        </p:nvSpPr>
        <p:spPr>
          <a:xfrm>
            <a:off x="812800" y="5415359"/>
            <a:ext cx="3420517" cy="629841"/>
          </a:xfrm>
          <a:prstGeom prst="roundRect">
            <a:avLst>
              <a:gd name="adj" fmla="val 12098"/>
            </a:avLst>
          </a:prstGeom>
          <a:solidFill>
            <a:srgbClr val="ECEAE3"/>
          </a:solidFill>
          <a:ln/>
        </p:spPr>
        <p:txBody>
          <a:bodyPr wrap="square" lIns="130082" tIns="79282" rIns="36610" bIns="53882"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Reproducible: Part I MAE 0.79 / 1.16 vs 0.78 / 1.14</a:t>
            </a:r>
            <a:endParaRPr lang="en-US" sz="1200" dirty="0"/>
          </a:p>
        </p:txBody>
      </p:sp>
      <p:sp>
        <p:nvSpPr>
          <p:cNvPr id="13" name="Text 9"/>
          <p:cNvSpPr/>
          <p:nvPr/>
        </p:nvSpPr>
        <p:spPr>
          <a:xfrm>
            <a:off x="4385717" y="5415359"/>
            <a:ext cx="3420566" cy="629841"/>
          </a:xfrm>
          <a:prstGeom prst="roundRect">
            <a:avLst>
              <a:gd name="adj" fmla="val 12098"/>
            </a:avLst>
          </a:prstGeom>
          <a:solidFill>
            <a:srgbClr val="ECEAE3"/>
          </a:solidFill>
          <a:ln/>
        </p:spPr>
        <p:txBody>
          <a:bodyPr wrap="square" lIns="130082" tIns="79282" rIns="36609" bIns="53882"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SD over 50 overlapping splits is not a CI</a:t>
            </a:r>
            <a:endParaRPr lang="en-US" sz="1200" dirty="0"/>
          </a:p>
        </p:txBody>
      </p:sp>
      <p:sp>
        <p:nvSpPr>
          <p:cNvPr id="14" name="Text 10"/>
          <p:cNvSpPr/>
          <p:nvPr/>
        </p:nvSpPr>
        <p:spPr>
          <a:xfrm>
            <a:off x="7958683" y="5415359"/>
            <a:ext cx="3420517" cy="629841"/>
          </a:xfrm>
          <a:prstGeom prst="roundRect">
            <a:avLst>
              <a:gd name="adj" fmla="val 12098"/>
            </a:avLst>
          </a:prstGeom>
          <a:solidFill>
            <a:srgbClr val="ECEAE3"/>
          </a:solidFill>
          <a:ln/>
        </p:spPr>
        <p:txBody>
          <a:bodyPr wrap="square" lIns="130082" tIns="79282" rIns="36610" bIns="53882"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One public source, no external cohort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④ MODEL TRAINING (2/3) · METRICS AND CALIBRATION</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Calibrated on average, short on severe cases</a:t>
            </a:r>
            <a:endParaRPr lang="en-US" sz="2800" dirty="0"/>
          </a:p>
        </p:txBody>
      </p:sp>
      <p:sp>
        <p:nvSpPr>
          <p:cNvPr id="4" name="Shape 2"/>
          <p:cNvSpPr/>
          <p:nvPr/>
        </p:nvSpPr>
        <p:spPr>
          <a:xfrm>
            <a:off x="815975" y="1717625"/>
            <a:ext cx="5200650" cy="4324400"/>
          </a:xfrm>
          <a:prstGeom prst="roundRect">
            <a:avLst>
              <a:gd name="adj" fmla="val 2276"/>
            </a:avLst>
          </a:prstGeom>
          <a:solidFill>
            <a:srgbClr val="FDFDFB"/>
          </a:solidFill>
          <a:ln w="6350">
            <a:solidFill>
              <a:srgbClr val="DAD7CE"/>
            </a:solidFill>
            <a:prstDash val="solid"/>
          </a:ln>
        </p:spPr>
      </p:sp>
      <p:pic>
        <p:nvPicPr>
          <p:cNvPr id="5" name="Image 0" descr="Top: residual versus expert score for opacity and extent, pooled over 50 test splits, falling from positive at low scores to negative at high scores. Bottom: binned calibration plots close to the diagonal, slopes 1.02 and 1.04.">    </p:cNvPr>
          <p:cNvPicPr>
            <a:picLocks noChangeAspect="1"/>
          </p:cNvPicPr>
          <p:nvPr/>
        </p:nvPicPr>
        <p:blipFill>
          <a:blip r:embed="rId1"/>
          <a:srcRect l="0" r="0" t="-148" b="-148"/>
          <a:stretch/>
        </p:blipFill>
        <p:spPr>
          <a:xfrm>
            <a:off x="920750" y="1831925"/>
            <a:ext cx="4991100" cy="4095750"/>
          </a:xfrm>
          <a:prstGeom prst="rect">
            <a:avLst/>
          </a:prstGeom>
        </p:spPr>
      </p:pic>
      <p:sp>
        <p:nvSpPr>
          <p:cNvPr id="6" name="Text 3"/>
          <p:cNvSpPr/>
          <p:nvPr/>
        </p:nvSpPr>
        <p:spPr>
          <a:xfrm>
            <a:off x="6223000" y="1714450"/>
            <a:ext cx="13208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521B"/>
                </a:solidFill>
                <a:latin typeface="Georgia" pitchFamily="18" charset="0"/>
                <a:ea typeface="Georgia" pitchFamily="18" charset="-122"/>
                <a:cs typeface="Georgia" pitchFamily="18" charset="-120"/>
              </a:rPr>
              <a:t>+0.72</a:t>
            </a:r>
            <a:endParaRPr lang="en-US" sz="2800" dirty="0"/>
          </a:p>
        </p:txBody>
      </p:sp>
      <p:sp>
        <p:nvSpPr>
          <p:cNvPr id="7" name="Text 4"/>
          <p:cNvSpPr/>
          <p:nvPr/>
        </p:nvSpPr>
        <p:spPr>
          <a:xfrm>
            <a:off x="7645400" y="1856680"/>
            <a:ext cx="3845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mean error when expert opacity ≤ 1 (extent: +0.86)</a:t>
            </a:r>
            <a:endParaRPr lang="en-US" sz="1200" dirty="0"/>
          </a:p>
        </p:txBody>
      </p:sp>
      <p:sp>
        <p:nvSpPr>
          <p:cNvPr id="8" name="Text 5"/>
          <p:cNvSpPr/>
          <p:nvPr/>
        </p:nvSpPr>
        <p:spPr>
          <a:xfrm>
            <a:off x="6223000" y="2364680"/>
            <a:ext cx="13208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521B"/>
                </a:solidFill>
                <a:latin typeface="Georgia" pitchFamily="18" charset="0"/>
                <a:ea typeface="Georgia" pitchFamily="18" charset="-122"/>
                <a:cs typeface="Georgia" pitchFamily="18" charset="-120"/>
              </a:rPr>
              <a:t>−0.87</a:t>
            </a:r>
            <a:endParaRPr lang="en-US" sz="2800" dirty="0"/>
          </a:p>
        </p:txBody>
      </p:sp>
      <p:sp>
        <p:nvSpPr>
          <p:cNvPr id="9" name="Text 6"/>
          <p:cNvSpPr/>
          <p:nvPr/>
        </p:nvSpPr>
        <p:spPr>
          <a:xfrm>
            <a:off x="7645400" y="2506911"/>
            <a:ext cx="3845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mean error when expert opacity &gt; 4 (extent: −1.07)</a:t>
            </a:r>
            <a:endParaRPr lang="en-US" sz="1200" dirty="0"/>
          </a:p>
        </p:txBody>
      </p:sp>
      <p:sp>
        <p:nvSpPr>
          <p:cNvPr id="10" name="Text 7"/>
          <p:cNvSpPr/>
          <p:nvPr/>
        </p:nvSpPr>
        <p:spPr>
          <a:xfrm>
            <a:off x="6223000" y="3014911"/>
            <a:ext cx="13208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Georgia" pitchFamily="18" charset="0"/>
                <a:ea typeface="Georgia" pitchFamily="18" charset="-122"/>
                <a:cs typeface="Georgia" pitchFamily="18" charset="-120"/>
              </a:rPr>
              <a:t>1.02</a:t>
            </a:r>
            <a:endParaRPr lang="en-US" sz="2800" dirty="0"/>
          </a:p>
        </p:txBody>
      </p:sp>
      <p:sp>
        <p:nvSpPr>
          <p:cNvPr id="11" name="Text 8"/>
          <p:cNvSpPr/>
          <p:nvPr/>
        </p:nvSpPr>
        <p:spPr>
          <a:xfrm>
            <a:off x="7645400" y="3050480"/>
            <a:ext cx="384581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calibration slope, opacity (extent 1.04): a prediction of 3 means ~3</a:t>
            </a:r>
            <a:endParaRPr lang="en-US" sz="1200" dirty="0"/>
          </a:p>
        </p:txBody>
      </p:sp>
      <p:sp>
        <p:nvSpPr>
          <p:cNvPr id="12" name="Text 9"/>
          <p:cNvSpPr/>
          <p:nvPr/>
        </p:nvSpPr>
        <p:spPr>
          <a:xfrm>
            <a:off x="6223000" y="3665141"/>
            <a:ext cx="5156200" cy="944761"/>
          </a:xfrm>
          <a:prstGeom prst="roundRect">
            <a:avLst>
              <a:gd name="adj" fmla="val 10754"/>
            </a:avLst>
          </a:prstGeom>
          <a:solidFill>
            <a:srgbClr val="14213D"/>
          </a:solidFill>
          <a:ln/>
        </p:spPr>
        <p:txBody>
          <a:bodyPr wrap="square" lIns="148042" tIns="122642" rIns="4024" bIns="97242"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Not miscalibration: any model with R² ≈ 0.6 regresses to the mean. The real issue is a compressed range, so the sickest patients, the ICU use case, score ~1 point too low.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④ MODEL TRAINING (3/3) · LEAKAGE, IMBALANCE, EXPLAINABILITY</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No leakage, but imbalance and explainability left open</a:t>
            </a:r>
            <a:endParaRPr lang="en-US" sz="2800" dirty="0"/>
          </a:p>
        </p:txBody>
      </p:sp>
      <p:sp>
        <p:nvSpPr>
          <p:cNvPr id="4" name="Shape 2"/>
          <p:cNvSpPr/>
          <p:nvPr/>
        </p:nvSpPr>
        <p:spPr>
          <a:xfrm>
            <a:off x="815975" y="1717625"/>
            <a:ext cx="5200650" cy="2082800"/>
          </a:xfrm>
          <a:prstGeom prst="roundRect">
            <a:avLst>
              <a:gd name="adj" fmla="val 4726"/>
            </a:avLst>
          </a:prstGeom>
          <a:solidFill>
            <a:srgbClr val="FDFDFB"/>
          </a:solidFill>
          <a:ln w="6350">
            <a:solidFill>
              <a:srgbClr val="DAD7CE"/>
            </a:solidFill>
            <a:prstDash val="solid"/>
          </a:ln>
        </p:spPr>
      </p:sp>
      <p:sp>
        <p:nvSpPr>
          <p:cNvPr id="5" name="Text 3"/>
          <p:cNvSpPr/>
          <p:nvPr/>
        </p:nvSpPr>
        <p:spPr>
          <a:xfrm>
            <a:off x="996950" y="1898600"/>
            <a:ext cx="914549" cy="264120"/>
          </a:xfrm>
          <a:custGeom>
            <a:avLst/>
            <a:gdLst/>
            <a:ahLst/>
            <a:cxnLst/>
            <a:rect l="l" t="t" r="r" b="b"/>
            <a:pathLst>
              <a:path w="914549" h="264120">
                <a:moveTo>
                  <a:pt x="132060" y="0"/>
                </a:moveTo>
                <a:lnTo>
                  <a:pt x="782489" y="0"/>
                </a:lnTo>
                <a:arcTo hR="132060" wR="132060" stAng="16200000" swAng="5400000"/>
                <a:lnTo>
                  <a:pt x="914549" y="132060"/>
                </a:lnTo>
                <a:arcTo hR="132060" wR="132060" stAng="0" swAng="5400000"/>
                <a:lnTo>
                  <a:pt x="132060" y="264120"/>
                </a:lnTo>
                <a:arcTo hR="132060" wR="132060" stAng="5400000" swAng="5400000"/>
                <a:lnTo>
                  <a:pt x="0" y="132060"/>
                </a:lnTo>
                <a:arcTo hR="132060" wR="13206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Arial" pitchFamily="34" charset="0"/>
                <a:ea typeface="Arial" pitchFamily="34" charset="-122"/>
                <a:cs typeface="Arial" pitchFamily="34" charset="-120"/>
              </a:rPr>
              <a:t>Done well</a:t>
            </a:r>
            <a:endParaRPr lang="en-US" sz="1200" dirty="0"/>
          </a:p>
        </p:txBody>
      </p:sp>
      <p:sp>
        <p:nvSpPr>
          <p:cNvPr id="6" name="Text 4"/>
          <p:cNvSpPr/>
          <p:nvPr/>
        </p:nvSpPr>
        <p:spPr>
          <a:xfrm>
            <a:off x="996950" y="2238921"/>
            <a:ext cx="4983861"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Patient-grouped splits</a:t>
            </a:r>
            <a:endParaRPr lang="en-US" sz="1300" dirty="0"/>
          </a:p>
        </p:txBody>
      </p:sp>
      <p:sp>
        <p:nvSpPr>
          <p:cNvPr id="7" name="Text 5"/>
          <p:cNvSpPr/>
          <p:nvPr/>
        </p:nvSpPr>
        <p:spPr>
          <a:xfrm>
            <a:off x="996950" y="2513211"/>
            <a:ext cx="498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65 patients, up to 4 films each. All films of a patient stay on one side of every split: no data leakage (checked in all 50 splits).</a:t>
            </a:r>
            <a:endParaRPr lang="en-US" sz="1200" dirty="0"/>
          </a:p>
        </p:txBody>
      </p:sp>
      <p:sp>
        <p:nvSpPr>
          <p:cNvPr id="8" name="Shape 6"/>
          <p:cNvSpPr/>
          <p:nvPr/>
        </p:nvSpPr>
        <p:spPr>
          <a:xfrm>
            <a:off x="6178550" y="1720800"/>
            <a:ext cx="5194300" cy="2076450"/>
          </a:xfrm>
          <a:prstGeom prst="roundRect">
            <a:avLst>
              <a:gd name="adj" fmla="val 4587"/>
            </a:avLst>
          </a:prstGeom>
          <a:solidFill>
            <a:srgbClr val="FDFDFB"/>
          </a:solidFill>
          <a:ln w="12700">
            <a:solidFill>
              <a:srgbClr val="B5521B"/>
            </a:solidFill>
            <a:prstDash val="solid"/>
          </a:ln>
        </p:spPr>
      </p:sp>
      <p:sp>
        <p:nvSpPr>
          <p:cNvPr id="9" name="Text 7"/>
          <p:cNvSpPr/>
          <p:nvPr/>
        </p:nvSpPr>
        <p:spPr>
          <a:xfrm>
            <a:off x="6362700" y="1904950"/>
            <a:ext cx="1261814" cy="264120"/>
          </a:xfrm>
          <a:custGeom>
            <a:avLst/>
            <a:gdLst/>
            <a:ahLst/>
            <a:cxnLst/>
            <a:rect l="l" t="t" r="r" b="b"/>
            <a:pathLst>
              <a:path w="1261814" h="264120">
                <a:moveTo>
                  <a:pt x="132060" y="0"/>
                </a:moveTo>
                <a:lnTo>
                  <a:pt x="1129754" y="0"/>
                </a:lnTo>
                <a:arcTo hR="132060" wR="132060" stAng="16200000" swAng="5400000"/>
                <a:lnTo>
                  <a:pt x="1261814"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3D8"/>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Not addressed</a:t>
            </a:r>
            <a:endParaRPr lang="en-US" sz="1200" dirty="0"/>
          </a:p>
        </p:txBody>
      </p:sp>
      <p:sp>
        <p:nvSpPr>
          <p:cNvPr id="10" name="Text 8"/>
          <p:cNvSpPr/>
          <p:nvPr/>
        </p:nvSpPr>
        <p:spPr>
          <a:xfrm>
            <a:off x="6362700" y="2245271"/>
            <a:ext cx="497078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Imbalance: 7 of 94 images score opacity ≥ 5</a:t>
            </a:r>
            <a:endParaRPr lang="en-US" sz="1300" dirty="0"/>
          </a:p>
        </p:txBody>
      </p:sp>
      <p:sp>
        <p:nvSpPr>
          <p:cNvPr id="11" name="Text 9"/>
          <p:cNvSpPr/>
          <p:nvPr/>
        </p:nvSpPr>
        <p:spPr>
          <a:xfrm>
            <a:off x="6362700" y="2519561"/>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18 of 94 score extent ≥ 6. No reweighting or stratified splits, so the few severe cases are under-learned (slide 2/3).</a:t>
            </a:r>
            <a:endParaRPr lang="en-US" sz="1200" dirty="0"/>
          </a:p>
        </p:txBody>
      </p:sp>
      <p:sp>
        <p:nvSpPr>
          <p:cNvPr id="12" name="Shape 10"/>
          <p:cNvSpPr/>
          <p:nvPr/>
        </p:nvSpPr>
        <p:spPr>
          <a:xfrm>
            <a:off x="819150" y="3962350"/>
            <a:ext cx="5194300" cy="2076500"/>
          </a:xfrm>
          <a:prstGeom prst="roundRect">
            <a:avLst>
              <a:gd name="adj" fmla="val 4587"/>
            </a:avLst>
          </a:prstGeom>
          <a:solidFill>
            <a:srgbClr val="FDFDFB"/>
          </a:solidFill>
          <a:ln w="12700">
            <a:solidFill>
              <a:srgbClr val="B5521B"/>
            </a:solidFill>
            <a:prstDash val="solid"/>
          </a:ln>
        </p:spPr>
      </p:sp>
      <p:sp>
        <p:nvSpPr>
          <p:cNvPr id="13" name="Text 11"/>
          <p:cNvSpPr/>
          <p:nvPr/>
        </p:nvSpPr>
        <p:spPr>
          <a:xfrm>
            <a:off x="1003300" y="4146500"/>
            <a:ext cx="598587" cy="264120"/>
          </a:xfrm>
          <a:custGeom>
            <a:avLst/>
            <a:gdLst/>
            <a:ahLst/>
            <a:cxnLst/>
            <a:rect l="l" t="t" r="r" b="b"/>
            <a:pathLst>
              <a:path w="598587" h="264120">
                <a:moveTo>
                  <a:pt x="132060" y="0"/>
                </a:moveTo>
                <a:lnTo>
                  <a:pt x="466527" y="0"/>
                </a:lnTo>
                <a:arcTo hR="132060" wR="132060" stAng="16200000" swAng="5400000"/>
                <a:lnTo>
                  <a:pt x="598587"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3D8"/>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Weak</a:t>
            </a:r>
            <a:endParaRPr lang="en-US" sz="1200" dirty="0"/>
          </a:p>
        </p:txBody>
      </p:sp>
      <p:sp>
        <p:nvSpPr>
          <p:cNvPr id="14" name="Text 12"/>
          <p:cNvSpPr/>
          <p:nvPr/>
        </p:nvSpPr>
        <p:spPr>
          <a:xfrm>
            <a:off x="1003300" y="4486821"/>
            <a:ext cx="497078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Explainability: 4 hand-picked saliency maps</a:t>
            </a:r>
            <a:endParaRPr lang="en-US" sz="1300" dirty="0"/>
          </a:p>
        </p:txBody>
      </p:sp>
      <p:sp>
        <p:nvSpPr>
          <p:cNvPr id="15" name="Text 13"/>
          <p:cNvSpPr/>
          <p:nvPr/>
        </p:nvSpPr>
        <p:spPr>
          <a:xfrm>
            <a:off x="1003300" y="4761111"/>
            <a:ext cx="49707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2 right, 2 wrong; focus on heart and diaphragm. No quantitative check or SHAP. The 1 / 4 / 18 / 1024 feature comparison is the only ablation.</a:t>
            </a:r>
            <a:endParaRPr lang="en-US" sz="1200" dirty="0"/>
          </a:p>
        </p:txBody>
      </p:sp>
      <p:sp>
        <p:nvSpPr>
          <p:cNvPr id="16" name="Shape 14"/>
          <p:cNvSpPr/>
          <p:nvPr/>
        </p:nvSpPr>
        <p:spPr>
          <a:xfrm>
            <a:off x="6175375" y="3959175"/>
            <a:ext cx="5200650" cy="2082850"/>
          </a:xfrm>
          <a:prstGeom prst="roundRect">
            <a:avLst>
              <a:gd name="adj" fmla="val 4725"/>
            </a:avLst>
          </a:prstGeom>
          <a:solidFill>
            <a:srgbClr val="FDFDFB"/>
          </a:solidFill>
          <a:ln w="6350">
            <a:solidFill>
              <a:srgbClr val="DAD7CE"/>
            </a:solidFill>
            <a:prstDash val="solid"/>
          </a:ln>
        </p:spPr>
      </p:sp>
      <p:sp>
        <p:nvSpPr>
          <p:cNvPr id="17" name="Text 15"/>
          <p:cNvSpPr/>
          <p:nvPr/>
        </p:nvSpPr>
        <p:spPr>
          <a:xfrm>
            <a:off x="6356350" y="4140150"/>
            <a:ext cx="1117600" cy="264120"/>
          </a:xfrm>
          <a:custGeom>
            <a:avLst/>
            <a:gdLst/>
            <a:ahLst/>
            <a:cxnLst/>
            <a:rect l="l" t="t" r="r" b="b"/>
            <a:pathLst>
              <a:path w="1117600" h="264120">
                <a:moveTo>
                  <a:pt x="132060" y="0"/>
                </a:moveTo>
                <a:lnTo>
                  <a:pt x="985540" y="0"/>
                </a:lnTo>
                <a:arcTo hR="132060" wR="132060" stAng="16200000" swAng="5400000"/>
                <a:lnTo>
                  <a:pt x="11176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3D8"/>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Not reported</a:t>
            </a:r>
            <a:endParaRPr lang="en-US" sz="1200" dirty="0"/>
          </a:p>
        </p:txBody>
      </p:sp>
      <p:sp>
        <p:nvSpPr>
          <p:cNvPr id="18" name="Text 16"/>
          <p:cNvSpPr/>
          <p:nvPr/>
        </p:nvSpPr>
        <p:spPr>
          <a:xfrm>
            <a:off x="6356350" y="4480471"/>
            <a:ext cx="4983861"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Subgroups (our check, opacity / extent MAE)</a:t>
            </a:r>
            <a:endParaRPr lang="en-US" sz="1300" dirty="0"/>
          </a:p>
        </p:txBody>
      </p:sp>
      <p:sp>
        <p:nvSpPr>
          <p:cNvPr id="19" name="Text 17"/>
          <p:cNvSpPr/>
          <p:nvPr/>
        </p:nvSpPr>
        <p:spPr>
          <a:xfrm>
            <a:off x="6356350" y="4754761"/>
            <a:ext cx="498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Female 0.84 / 1.15, male 0.81 / 1.27. Age 50–64: extent 1.59 vs 1.10 at 65+. Only 19–29 images per group: a signal, not proof.</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⑤ MODEL DEPLOYMENT · DEPLOYMENT, UNCERTAINTY AND AUTOMATION BIAS</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A proof of concept, not a deployable tool</a:t>
            </a:r>
            <a:endParaRPr lang="en-US" sz="2800" dirty="0"/>
          </a:p>
        </p:txBody>
      </p:sp>
      <p:sp>
        <p:nvSpPr>
          <p:cNvPr id="4" name="Shape 2"/>
          <p:cNvSpPr/>
          <p:nvPr/>
        </p:nvSpPr>
        <p:spPr>
          <a:xfrm>
            <a:off x="812800" y="1714450"/>
            <a:ext cx="3420517" cy="1330871"/>
          </a:xfrm>
          <a:prstGeom prst="roundRect">
            <a:avLst>
              <a:gd name="adj" fmla="val 7634"/>
            </a:avLst>
          </a:prstGeom>
          <a:solidFill>
            <a:srgbClr val="FDFDFB"/>
          </a:solidFill>
          <a:ln/>
        </p:spPr>
      </p:sp>
      <p:sp>
        <p:nvSpPr>
          <p:cNvPr id="5" name="Text 3"/>
          <p:cNvSpPr/>
          <p:nvPr/>
        </p:nvSpPr>
        <p:spPr>
          <a:xfrm>
            <a:off x="990600" y="1892250"/>
            <a:ext cx="3156864"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521B"/>
                </a:solidFill>
                <a:latin typeface="Georgia" pitchFamily="18" charset="0"/>
                <a:ea typeface="Georgia" pitchFamily="18" charset="-122"/>
                <a:cs typeface="Georgia" pitchFamily="18" charset="-120"/>
              </a:rPr>
              <a:t>3.8%</a:t>
            </a:r>
            <a:endParaRPr lang="en-US" sz="2800" dirty="0"/>
          </a:p>
        </p:txBody>
      </p:sp>
      <p:sp>
        <p:nvSpPr>
          <p:cNvPr id="6" name="Text 4"/>
          <p:cNvSpPr/>
          <p:nvPr/>
        </p:nvSpPr>
        <p:spPr>
          <a:xfrm>
            <a:off x="990600" y="2440880"/>
            <a:ext cx="3156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of opacity predictions fall outside 0–6, mostly negative</a:t>
            </a:r>
            <a:endParaRPr lang="en-US" sz="1200" dirty="0"/>
          </a:p>
        </p:txBody>
      </p:sp>
      <p:sp>
        <p:nvSpPr>
          <p:cNvPr id="7" name="Shape 5"/>
          <p:cNvSpPr/>
          <p:nvPr/>
        </p:nvSpPr>
        <p:spPr>
          <a:xfrm>
            <a:off x="4385717" y="1714450"/>
            <a:ext cx="3420566" cy="1330871"/>
          </a:xfrm>
          <a:prstGeom prst="roundRect">
            <a:avLst>
              <a:gd name="adj" fmla="val 7634"/>
            </a:avLst>
          </a:prstGeom>
          <a:solidFill>
            <a:srgbClr val="FDFDFB"/>
          </a:solidFill>
          <a:ln/>
        </p:spPr>
      </p:sp>
      <p:sp>
        <p:nvSpPr>
          <p:cNvPr id="8" name="Text 6"/>
          <p:cNvSpPr/>
          <p:nvPr/>
        </p:nvSpPr>
        <p:spPr>
          <a:xfrm>
            <a:off x="4563517" y="1892250"/>
            <a:ext cx="3156915"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521B"/>
                </a:solidFill>
                <a:latin typeface="Georgia" pitchFamily="18" charset="0"/>
                <a:ea typeface="Georgia" pitchFamily="18" charset="-122"/>
                <a:cs typeface="Georgia" pitchFamily="18" charset="-120"/>
              </a:rPr>
              <a:t>5.9%</a:t>
            </a:r>
            <a:endParaRPr lang="en-US" sz="2800" dirty="0"/>
          </a:p>
        </p:txBody>
      </p:sp>
      <p:sp>
        <p:nvSpPr>
          <p:cNvPr id="9" name="Text 7"/>
          <p:cNvSpPr/>
          <p:nvPr/>
        </p:nvSpPr>
        <p:spPr>
          <a:xfrm>
            <a:off x="4563517" y="2440880"/>
            <a:ext cx="31569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of extent predictions fall outside 0–8; clipping cuts MAE 1.16 → 1.10</a:t>
            </a:r>
            <a:endParaRPr lang="en-US" sz="1200" dirty="0"/>
          </a:p>
        </p:txBody>
      </p:sp>
      <p:sp>
        <p:nvSpPr>
          <p:cNvPr id="10" name="Shape 8"/>
          <p:cNvSpPr/>
          <p:nvPr/>
        </p:nvSpPr>
        <p:spPr>
          <a:xfrm>
            <a:off x="7958683" y="1714450"/>
            <a:ext cx="3420517" cy="1330871"/>
          </a:xfrm>
          <a:prstGeom prst="roundRect">
            <a:avLst>
              <a:gd name="adj" fmla="val 7634"/>
            </a:avLst>
          </a:prstGeom>
          <a:solidFill>
            <a:srgbClr val="FDFDFB"/>
          </a:solidFill>
          <a:ln/>
        </p:spPr>
      </p:sp>
      <p:sp>
        <p:nvSpPr>
          <p:cNvPr id="11" name="Text 9"/>
          <p:cNvSpPr/>
          <p:nvPr/>
        </p:nvSpPr>
        <p:spPr>
          <a:xfrm>
            <a:off x="8136483" y="1892250"/>
            <a:ext cx="3156864"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521B"/>
                </a:solidFill>
                <a:latin typeface="Georgia" pitchFamily="18" charset="0"/>
                <a:ea typeface="Georgia" pitchFamily="18" charset="-122"/>
                <a:cs typeface="Georgia" pitchFamily="18" charset="-120"/>
              </a:rPr>
              <a:t>11 / 94</a:t>
            </a:r>
            <a:endParaRPr lang="en-US" sz="2800" dirty="0"/>
          </a:p>
        </p:txBody>
      </p:sp>
      <p:sp>
        <p:nvSpPr>
          <p:cNvPr id="12" name="Text 10"/>
          <p:cNvSpPr/>
          <p:nvPr/>
        </p:nvSpPr>
        <p:spPr>
          <a:xfrm>
            <a:off x="8136483" y="2440880"/>
            <a:ext cx="3156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Arial" pitchFamily="34" charset="0"/>
                <a:ea typeface="Arial" pitchFamily="34" charset="-122"/>
                <a:cs typeface="Arial" pitchFamily="34" charset="-120"/>
              </a:rPr>
              <a:t>“PA” images later relabelled AP; ICU films are mostly bedside AP</a:t>
            </a:r>
            <a:endParaRPr lang="en-US" sz="1200" dirty="0"/>
          </a:p>
        </p:txBody>
      </p:sp>
      <p:sp>
        <p:nvSpPr>
          <p:cNvPr id="13" name="Shape 11"/>
          <p:cNvSpPr/>
          <p:nvPr/>
        </p:nvSpPr>
        <p:spPr>
          <a:xfrm>
            <a:off x="812800" y="3248521"/>
            <a:ext cx="5194300" cy="2796679"/>
          </a:xfrm>
          <a:prstGeom prst="roundRect">
            <a:avLst>
              <a:gd name="adj" fmla="val 3633"/>
            </a:avLst>
          </a:prstGeom>
          <a:solidFill>
            <a:srgbClr val="FDFDFB"/>
          </a:solidFill>
          <a:ln/>
        </p:spPr>
      </p:sp>
      <p:sp>
        <p:nvSpPr>
          <p:cNvPr id="14" name="Text 12"/>
          <p:cNvSpPr/>
          <p:nvPr/>
        </p:nvSpPr>
        <p:spPr>
          <a:xfrm>
            <a:off x="990600" y="3426321"/>
            <a:ext cx="4983861"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Arial" pitchFamily="34" charset="0"/>
                <a:ea typeface="Arial" pitchFamily="34" charset="-122"/>
                <a:cs typeface="Arial" pitchFamily="34" charset="-120"/>
              </a:rPr>
              <a:t>Limitations the authors state</a:t>
            </a:r>
            <a:endParaRPr lang="en-US" sz="1300" dirty="0"/>
          </a:p>
        </p:txBody>
      </p:sp>
      <p:sp>
        <p:nvSpPr>
          <p:cNvPr id="15" name="Text 13"/>
          <p:cNvSpPr/>
          <p:nvPr/>
        </p:nvSpPr>
        <p:spPr>
          <a:xfrm>
            <a:off x="1102106" y="3726011"/>
            <a:ext cx="4864735" cy="878681"/>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Small sample, exposed to sample bias</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No external cohort with the same score</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Scores not linked to clinical outcomes</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Saliency maps give a limited view</a:t>
            </a:r>
            <a:endParaRPr lang="en-US" sz="1200" dirty="0"/>
          </a:p>
        </p:txBody>
      </p:sp>
      <p:sp>
        <p:nvSpPr>
          <p:cNvPr id="16" name="Shape 14"/>
          <p:cNvSpPr/>
          <p:nvPr/>
        </p:nvSpPr>
        <p:spPr>
          <a:xfrm>
            <a:off x="6165850" y="3254871"/>
            <a:ext cx="5207000" cy="2783979"/>
          </a:xfrm>
          <a:prstGeom prst="roundRect">
            <a:avLst>
              <a:gd name="adj" fmla="val 3421"/>
            </a:avLst>
          </a:prstGeom>
          <a:solidFill>
            <a:srgbClr val="FDFDFB"/>
          </a:solidFill>
          <a:ln w="12700">
            <a:solidFill>
              <a:srgbClr val="B5521B"/>
            </a:solidFill>
            <a:prstDash val="solid"/>
          </a:ln>
        </p:spPr>
      </p:sp>
      <p:sp>
        <p:nvSpPr>
          <p:cNvPr id="17" name="Text 15"/>
          <p:cNvSpPr/>
          <p:nvPr/>
        </p:nvSpPr>
        <p:spPr>
          <a:xfrm>
            <a:off x="6350000" y="3439021"/>
            <a:ext cx="4983861"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521B"/>
                </a:solidFill>
                <a:latin typeface="Arial" pitchFamily="34" charset="0"/>
                <a:ea typeface="Arial" pitchFamily="34" charset="-122"/>
                <a:cs typeface="Arial" pitchFamily="34" charset="-120"/>
              </a:rPr>
              <a:t>Limitations left unstated</a:t>
            </a:r>
            <a:endParaRPr lang="en-US" sz="1300" dirty="0"/>
          </a:p>
        </p:txBody>
      </p:sp>
      <p:sp>
        <p:nvSpPr>
          <p:cNvPr id="18" name="Text 16"/>
          <p:cNvSpPr/>
          <p:nvPr/>
        </p:nvSpPr>
        <p:spPr>
          <a:xfrm>
            <a:off x="6461506" y="3738711"/>
            <a:ext cx="4864735" cy="1092002"/>
          </a:xfrm>
          <a:prstGeom prst="rect">
            <a:avLst/>
          </a:prstGeom>
          <a:noFill/>
          <a:ln/>
        </p:spPr>
        <p:txBody>
          <a:bodyPr wrap="square" lIns="0" tIns="0" rIns="0" bIns="0" rtlCol="0" anchor="t">
            <a:normAutofit/>
          </a:bodyPr>
          <a:lstStyle/>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Feature set chosen on test results</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Out-of-range severity scores</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Severe cases underestimated</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PA-only evaluation vs bedside AP in ICU</a:t>
            </a:r>
            <a:endParaRPr lang="en-US" sz="1200" dirty="0"/>
          </a:p>
          <a:p>
            <a:pPr algn="l" marL="142494" indent="-142494">
              <a:lnSpc>
                <a:spcPts val="1680"/>
              </a:lnSpc>
              <a:buSzPct val="100000"/>
              <a:buChar char="•"/>
            </a:pPr>
            <a:r>
              <a:rPr lang="en-US" sz="1200" dirty="0">
                <a:solidFill>
                  <a:srgbClr val="3E4A5C"/>
                </a:solidFill>
                <a:latin typeface="Arial" pitchFamily="34" charset="0"/>
                <a:ea typeface="Arial" pitchFamily="34" charset="-122"/>
                <a:cs typeface="Arial" pitchFamily="34" charset="-120"/>
              </a:rPr>
              <a:t>No plan for uncertainty, drift, automation or feedback-loop bias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B"/>
                </a:solidFill>
                <a:latin typeface="Arial" pitchFamily="34" charset="0"/>
                <a:ea typeface="Arial" pitchFamily="34" charset="-122"/>
                <a:cs typeface="Arial" pitchFamily="34" charset="-120"/>
              </a:rPr>
              <a:t>PART II · CRITIQUE SUMMARY · LECTURE 9 CHECKLIST</a:t>
            </a:r>
            <a:endParaRPr lang="en-US" sz="1200" dirty="0"/>
          </a:p>
        </p:txBody>
      </p:sp>
      <p:sp>
        <p:nvSpPr>
          <p:cNvPr id="3" name="Text 1"/>
          <p:cNvSpPr/>
          <p:nvPr>
            <p:ph type="title"/>
          </p:nvPr>
        </p:nvSpPr>
        <p:spPr>
          <a:xfrm>
            <a:off x="812800" y="11023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Georgia" pitchFamily="18" charset="0"/>
                <a:ea typeface="Georgia" pitchFamily="18" charset="-122"/>
                <a:cs typeface="Georgia" pitchFamily="18" charset="-120"/>
              </a:rPr>
              <a:t>Where the study stands on the checklist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6350"/>
          <a:ext cx="10553700" cy="4324846"/>
        </p:xfrm>
        <a:graphic>
          <a:graphicData uri="http://schemas.openxmlformats.org/drawingml/2006/table">
            <a:tbl>
              <a:tblPr/>
              <a:tblGrid>
                <a:gridCol w="633222"/>
                <a:gridCol w="2955036"/>
                <a:gridCol w="1266444"/>
                <a:gridCol w="5698998"/>
              </a:tblGrid>
              <a:tr h="332680">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Stage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Question</a:t>
                      </a:r>
                      <a:endParaRPr lang="en-US" sz="1200" dirty="0">
                        <a:latin typeface="Arial" charset="0"/>
                        <a:ea typeface="Arial" charset="0"/>
                        <a:cs typeface="Arial"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Verdict</a:t>
                      </a:r>
                      <a:endParaRPr lang="en-US" sz="1200" dirty="0">
                        <a:latin typeface="Arial" charset="0"/>
                        <a:ea typeface="Arial" charset="0"/>
                        <a:cs typeface="Arial"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3E4A5C"/>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①</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Approved, consented, registered?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CERSES approval; consent waived; not registered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①</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Sources described, representative?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Arial" pitchFamily="34" charset="0"/>
                          <a:ea typeface="Arial" pitchFamily="34" charset="-122"/>
                          <a:cs typeface="Arial" pitchFamily="34" charset="-120"/>
                        </a:rPr>
                        <a:t>Not met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5 web sources, Italy 29, location missing 19</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①</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Inclusion / exclusion criteria clear?</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Arial" pitchFamily="34" charset="0"/>
                          <a:ea typeface="Arial" pitchFamily="34" charset="-122"/>
                          <a:cs typeface="Arial" pitchFamily="34" charset="-120"/>
                        </a:rPr>
                        <a:t>Not met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“94 PA” but 17 not reliably PA; no exclusions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②</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Missing data reported and handled?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Arial" pitchFamily="34" charset="0"/>
                          <a:ea typeface="Arial" pitchFamily="34" charset="-122"/>
                          <a:cs typeface="Arial" pitchFamily="34" charset="-120"/>
                        </a:rPr>
                        <a:t>Not met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“No missing data” vs sex 17, age 25 missing</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②</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Labels validated?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3 blinded experts; κ 0.45 opacity; mean only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②</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Preprocessing described?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Crop + resize; burned-in marks kept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③</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Models compared with baselines?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Arial" pitchFamily="34" charset="0"/>
                          <a:ea typeface="Arial" pitchFamily="34" charset="-122"/>
                          <a:cs typeface="Arial" pitchFamily="34" charset="-120"/>
                        </a:rPr>
                        <a:t>Not met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OLS only, against a constant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④</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Split without leakage, test kept apart?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Patient-grouped; but selection used test set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④</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Metrics, calibration, imbalance?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MAE / MSE / r / R²; no calibration; 7/94 severe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④</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Explainable?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Arial" pitchFamily="34" charset="0"/>
                          <a:ea typeface="Arial" pitchFamily="34" charset="-122"/>
                          <a:cs typeface="Arial" pitchFamily="34" charset="-120"/>
                        </a:rPr>
                        <a:t>Not met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4 hand-picked saliency maps, no SHAP</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④</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Reproducible / generalisable?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Met / Not met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Code + data open, Part I within 0.02 MAE; no external cohort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⑤</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Clinical context, limits, ready?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B5521B"/>
                          </a:solidFill>
                          <a:latin typeface="Arial" pitchFamily="34" charset="0"/>
                          <a:ea typeface="Arial" pitchFamily="34" charset="-122"/>
                          <a:cs typeface="Arial" pitchFamily="34" charset="-120"/>
                        </a:rPr>
                        <a:t>Not ready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E4A5C"/>
                          </a:solidFill>
                          <a:latin typeface="Arial" pitchFamily="34" charset="0"/>
                          <a:ea typeface="Arial" pitchFamily="34" charset="-122"/>
                          <a:cs typeface="Arial" pitchFamily="34" charset="-120"/>
                        </a:rPr>
                        <a:t>ICU use claimed, PA-only; 5 limits unstated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DSA5206 Critique D">
  <a:themeElements>
    <a:clrScheme name="DSA5206 Critique D">
      <a:dk1>
        <a:srgbClr val="14213D"/>
      </a:dk1>
      <a:lt1>
        <a:srgbClr val="F7F6F2"/>
      </a:lt1>
      <a:dk2>
        <a:srgbClr val="4D566A"/>
      </a:dk2>
      <a:lt2>
        <a:srgbClr val="E0E1E0"/>
      </a:lt2>
      <a:accent1>
        <a:srgbClr val="B5521B"/>
      </a:accent1>
      <a:accent2>
        <a:srgbClr val="3E4A5C"/>
      </a:accent2>
      <a:accent3>
        <a:srgbClr val="F3E3D8"/>
      </a:accent3>
      <a:accent4>
        <a:srgbClr val="9AA0A6"/>
      </a:accent4>
      <a:accent5>
        <a:srgbClr val="6F7685"/>
      </a:accent5>
      <a:accent6>
        <a:srgbClr val="9196A1"/>
      </a:accent6>
      <a:hlink>
        <a:srgbClr val="0563C1"/>
      </a:hlink>
      <a:folHlink>
        <a:srgbClr val="954F72"/>
      </a:folHlink>
    </a:clrScheme>
    <a:fontScheme name="DSA5206 Critique 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DSA5206 Critique D</dc:title>
  <dc:subject/>
  <dc:creator/>
  <cp:lastModifiedBy/>
  <cp:revision>1</cp:revision>
  <dcterms:created xsi:type="dcterms:W3CDTF">2026-10-28T12:22:35Z</dcterms:created>
  <dcterms:modified xsi:type="dcterms:W3CDTF">2026-10-28T12:22:35Z</dcterms:modified>
</cp:coreProperties>
</file>