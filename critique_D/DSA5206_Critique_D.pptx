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only ever fits ordinary least squares. The five rows of Table 1 differ only in which inputs go in: one logit, four logits, all eighteen, the 1024-dimensional feature vector, or nothing at all. So the only baseline is a constant that predicts the training mean, which is a very low bar. There is no regularised model, no non-linear model, no other encoder and no comparison with any other published severity method. The paper also says the predictions look reasonable given rater agreement, but it never puts the model error next to the radiologists’ own disagreement. In checklist terms this is the missing-baseline bias. That is exactly what our Part II tests: alternative models, evaluated on the same 50 patient-grouped splits as the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validation set. Section 2.5 says the final model was chosen only by training-set MSE. If you actually apply that rule, the 1024-feature model wins every time: with about 47 training images and 1024 features it interpolates the training set, so training MSE is essentially zero. Yet it has the worst test error. The paper reports the single lung-opacity logit instead, which can only have come from looking at Table 1, which is test performance. To measure how much that matters, we re-selected the feature set inside each training half with 5-fold patient-grouped cross-validation and only then scored the test half. Opacity MAE goes from 0.788 to 0.807 and extent from 1.161 to 1.209, so about 2 to 4 percent worse. The headline holds but is slightly optimistic. Also, the single logit is chosen in only 26 to 29 of the 50 inner selections, so “one feature is best” is not stable. The right panel shows the bias–variance picture. Bottom row: Part I reproduced the numbers closely, the 50 splits overlap so their standard deviation is not a confidence interval, and all images come from one public collection with no external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residuals against the expert score, pooled over all 50 test splits, so each image appears about 25 times. For opacity, images the experts scored 1 or below are over-predicted by 0.72 on average, and images above 4 are under-predicted by 0.87. Extent shows the same pattern: plus 0.86 and minus 1.07. The paper notices this in Figure 2 but calls the predictions reasonable. Be careful how we describe it, though. Bottom row: when we group by the prediction instead of the truth, the model is well calibrated, with a slope of about 1.0. This is regression to the mean, and it happens for any regression with R squared below one. So the criticism is not that the model is miscalibrated. The criticism is that its predicted range is compressed: the patients who matter most for escalating to ICU care are systematically scored about one point too low, and the paper does not quantify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deployment problems. First, the output is unconstrained: 3.8 percent of opacity predictions and 5.9 percent of extent predictions fall outside the valid score range, mostly as negative severity. That involves only 5 and 11 distinct images, but a clinician would see a meaningless number. Simply clipping to the valid range would have lowered extent MAE from 1.16 to 1.10, and opacity from 0.79 to 0.77. Second, the use case is the ICU, where most films are portable bedside AP views, but the study evaluates PA films only. And even the PA label is not reliable: in the current dataset metadata, 11 of the 94 images have been relabelled AP or AP supine, and one has been removed. Third, compare what the authors admit with what they do not. They acknowledge the small sample, no external cohort, no link to outcomes, and the limits of saliency maps. They do not mention the test-set selection, the out-of-range outputs, the underestimation of severe cases, the PA versus AP mismatch, or any plan for uncertainty, concept drift or automation bias. Conclusion: a useful proof-of-concept study, but not ready for clinical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08914"/>
          </a:xfrm>
          <a:prstGeom prst="rect">
            <a:avLst/>
          </a:prstGeom>
          <a:noFill/>
          <a:ln/>
        </p:spPr>
        <p:txBody>
          <a:bodyPr wrap="square" lIns="0" tIns="0" rIns="0" bIns="0" rtlCol="0" anchor="t"/>
          <a:lstStyle>
            <a:lvl1pPr algn="l" indent="0" marL="0">
              <a:lnSpc>
                <a:spcPct val="115000"/>
              </a:lnSpc>
              <a:buNone/>
              <a:defRPr lang="en-US" sz="2800" dirty="0">
                <a:solidFill>
                  <a:srgbClr val="14213D"/>
                </a:solidFill>
                <a:latin typeface="Georgia" pitchFamily="34" charset="0"/>
                <a:ea typeface="Georgia" pitchFamily="34" charset="-122"/>
                <a:cs typeface="Georgia"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816034"/>
            <a:ext cx="10566400" cy="4229166"/>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08914"/>
          </a:xfrm>
          <a:prstGeom prst="rect">
            <a:avLst/>
          </a:prstGeom>
          <a:noFill/>
          <a:ln/>
        </p:spPr>
        <p:txBody>
          <a:bodyPr wrap="square" lIns="0" tIns="0" rIns="0" bIns="0" rtlCol="0" anchor="t"/>
          <a:lstStyle>
            <a:lvl1pPr algn="l" indent="0" marL="0">
              <a:lnSpc>
                <a:spcPct val="115000"/>
              </a:lnSpc>
              <a:buNone/>
              <a:defRPr lang="en-US" sz="2800" dirty="0">
                <a:solidFill>
                  <a:srgbClr val="14213D"/>
                </a:solidFill>
                <a:latin typeface="Georgia" pitchFamily="34" charset="0"/>
                <a:ea typeface="Georgia" pitchFamily="34" charset="-122"/>
                <a:cs typeface="Georgia"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816034"/>
            <a:ext cx="10566400" cy="4229166"/>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B"/>
                </a:solidFill>
                <a:latin typeface="Arial" pitchFamily="34" charset="0"/>
                <a:ea typeface="Arial" pitchFamily="34" charset="-122"/>
                <a:cs typeface="Arial" pitchFamily="34" charset="-120"/>
              </a:rPr>
              <a:t>PART II · CRITIQUE ③ MODEL SELECTION</a:t>
            </a:r>
            <a:endParaRPr lang="en-US" sz="1200" dirty="0"/>
          </a:p>
        </p:txBody>
      </p:sp>
      <p:sp>
        <p:nvSpPr>
          <p:cNvPr id="3" name="Text 1"/>
          <p:cNvSpPr/>
          <p:nvPr>
            <p:ph type="title"/>
          </p:nvPr>
        </p:nvSpPr>
        <p:spPr>
          <a:xfrm>
            <a:off x="812800" y="1102320"/>
            <a:ext cx="10883392" cy="434314"/>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Georgia" pitchFamily="18" charset="0"/>
                <a:ea typeface="Georgia" pitchFamily="18" charset="-122"/>
                <a:cs typeface="Georgia" pitchFamily="18" charset="-120"/>
              </a:rPr>
              <a:t>One model family, one trivial baseline</a:t>
            </a:r>
            <a:endParaRPr lang="en-US" sz="2800" dirty="0"/>
          </a:p>
        </p:txBody>
      </p:sp>
      <p:sp>
        <p:nvSpPr>
          <p:cNvPr id="4" name="Shape 2"/>
          <p:cNvSpPr/>
          <p:nvPr/>
        </p:nvSpPr>
        <p:spPr>
          <a:xfrm>
            <a:off x="815975" y="1717609"/>
            <a:ext cx="5175250" cy="3534503"/>
          </a:xfrm>
          <a:prstGeom prst="roundRect">
            <a:avLst>
              <a:gd name="adj" fmla="val 2785"/>
            </a:avLst>
          </a:prstGeom>
          <a:solidFill>
            <a:srgbClr val="FDFDFB"/>
          </a:solidFill>
          <a:ln w="6350">
            <a:solidFill>
              <a:srgbClr val="DAD7CE"/>
            </a:solidFill>
            <a:prstDash val="solid"/>
          </a:ln>
        </p:spPr>
      </p:sp>
      <p:sp>
        <p:nvSpPr>
          <p:cNvPr id="5" name="Text 3"/>
          <p:cNvSpPr/>
          <p:nvPr/>
        </p:nvSpPr>
        <p:spPr>
          <a:xfrm>
            <a:off x="1020233" y="1921867"/>
            <a:ext cx="4909735" cy="223507"/>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13D"/>
                </a:solidFill>
                <a:latin typeface="Arial" pitchFamily="34" charset="0"/>
                <a:ea typeface="Arial" pitchFamily="34" charset="-122"/>
                <a:cs typeface="Arial" pitchFamily="34" charset="-120"/>
              </a:rPr>
              <a:t>What the paper compared</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032933" y="2259674"/>
          <a:ext cx="4754033" cy="1995884"/>
        </p:xfrm>
        <a:graphic>
          <a:graphicData uri="http://schemas.openxmlformats.org/drawingml/2006/table">
            <a:tbl>
              <a:tblPr/>
              <a:tblGrid>
                <a:gridCol w="2947501"/>
                <a:gridCol w="1806533"/>
              </a:tblGrid>
              <a:tr h="332647">
                <a:tc>
                  <a:txBody>
                    <a:bodyPr/>
                    <a:lstStyle/>
                    <a:p>
                      <a:pPr indent="0" marL="0">
                        <a:lnSpc>
                          <a:spcPts val="1680"/>
                        </a:lnSpc>
                        <a:buNone/>
                      </a:pPr>
                      <a:r>
                        <a:rPr lang="en-US" sz="1200" b="1" dirty="0">
                          <a:solidFill>
                            <a:srgbClr val="3E4A5C"/>
                          </a:solidFill>
                          <a:latin typeface="Arial" pitchFamily="34" charset="0"/>
                          <a:ea typeface="Arial" pitchFamily="34" charset="-122"/>
                          <a:cs typeface="Arial" pitchFamily="34" charset="-120"/>
                        </a:rPr>
                        <a:t>Input to linear regression</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BBBBB9"/>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BBBBB9"/>
                      </a:solidFill>
                      <a:prstDash val="solid"/>
                      <a:round/>
                      <a:headEnd type="none" w="med" len="med"/>
                      <a:tailEnd type="none" w="med" len="med"/>
                    </a:lnB>
                    <a:solidFill>
                      <a:srgbClr val="EAEAE8"/>
                    </a:solidFill>
                  </a:tcPr>
                </a:tc>
                <a:tc>
                  <a:txBody>
                    <a:bodyPr/>
                    <a:lstStyle/>
                    <a:p>
                      <a:pPr algn="r" indent="0" marL="0">
                        <a:lnSpc>
                          <a:spcPts val="1680"/>
                        </a:lnSpc>
                        <a:buNone/>
                      </a:pPr>
                      <a:r>
                        <a:rPr lang="en-US" sz="1200" b="1" dirty="0">
                          <a:solidFill>
                            <a:srgbClr val="3E4A5C"/>
                          </a:solidFill>
                          <a:latin typeface="Arial" pitchFamily="34" charset="0"/>
                          <a:ea typeface="Arial" pitchFamily="34" charset="-122"/>
                          <a:cs typeface="Arial" pitchFamily="34" charset="-120"/>
                        </a:rPr>
                        <a:t>Parameters</a:t>
                      </a:r>
                      <a:endParaRPr lang="en-US" sz="1200" dirty="0">
                        <a:latin typeface="Arial" charset="0"/>
                        <a:ea typeface="Arial" charset="0"/>
                        <a:cs typeface="Arial" charset="0"/>
                      </a:endParaRPr>
                    </a:p>
                  </a:txBody>
                  <a:tcPr marL="53340" marR="53340" marT="53340" marB="53340" anchor="t">
                    <a:lnL w="12700" cap="flat" cmpd="sng" algn="ctr">
                      <a:solidFill>
                        <a:srgbClr val="BBBBB9"/>
                      </a:solidFill>
                      <a:prstDash val="solid"/>
                      <a:round/>
                      <a:headEnd type="none" w="med" len="med"/>
                      <a:tailEnd type="none" w="med" len="med"/>
                    </a:lnL>
                    <a:lnR w="12700" cap="flat" cmpd="sng" algn="ctr">
                      <a:solidFill>
                        <a:srgbClr val="BBBBB9"/>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BBBBB9"/>
                      </a:solidFill>
                      <a:prstDash val="solid"/>
                      <a:round/>
                      <a:headEnd type="none" w="med" len="med"/>
                      <a:tailEnd type="none" w="med" len="med"/>
                    </a:lnB>
                    <a:solidFill>
                      <a:srgbClr val="EAEAE8"/>
                    </a:solidFill>
                  </a:tcPr>
                </a:tc>
              </a:tr>
              <a:tr h="332647">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“Lung opacity” logit</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BBBBB9"/>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1 + 1</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BBBBB9"/>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r h="332647">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4 pneumonia logits</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4 + 1</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r h="332647">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All 18 logits</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18 + 1</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r h="332647">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1024 DenseNet features</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1024 + 1</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r h="332647">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No data (constant)</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0 + 1</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bl>
          </a:graphicData>
        </a:graphic>
      </p:graphicFrame>
      <p:sp>
        <p:nvSpPr>
          <p:cNvPr id="7" name="Text 4"/>
          <p:cNvSpPr/>
          <p:nvPr/>
        </p:nvSpPr>
        <p:spPr>
          <a:xfrm>
            <a:off x="1020233" y="4382558"/>
            <a:ext cx="490973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Every row is ordinary least squares on one frozen DenseNet-121. Only the input changes.</a:t>
            </a:r>
            <a:endParaRPr lang="en-US" sz="1200" dirty="0"/>
          </a:p>
        </p:txBody>
      </p:sp>
      <p:sp>
        <p:nvSpPr>
          <p:cNvPr id="8" name="Shape 5"/>
          <p:cNvSpPr/>
          <p:nvPr/>
        </p:nvSpPr>
        <p:spPr>
          <a:xfrm>
            <a:off x="6200775" y="1717609"/>
            <a:ext cx="5175250" cy="3534503"/>
          </a:xfrm>
          <a:prstGeom prst="roundRect">
            <a:avLst>
              <a:gd name="adj" fmla="val 2785"/>
            </a:avLst>
          </a:prstGeom>
          <a:solidFill>
            <a:srgbClr val="FDFDFB"/>
          </a:solidFill>
          <a:ln w="6350">
            <a:solidFill>
              <a:srgbClr val="DAD7CE"/>
            </a:solidFill>
            <a:prstDash val="solid"/>
          </a:ln>
        </p:spPr>
      </p:sp>
      <p:sp>
        <p:nvSpPr>
          <p:cNvPr id="9" name="Text 6"/>
          <p:cNvSpPr/>
          <p:nvPr/>
        </p:nvSpPr>
        <p:spPr>
          <a:xfrm>
            <a:off x="6405033" y="1921867"/>
            <a:ext cx="4909735" cy="223507"/>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13D"/>
                </a:solidFill>
                <a:latin typeface="Arial" pitchFamily="34" charset="0"/>
                <a:ea typeface="Arial" pitchFamily="34" charset="-122"/>
                <a:cs typeface="Arial" pitchFamily="34" charset="-120"/>
              </a:rPr>
              <a:t>What was never compared</a:t>
            </a:r>
            <a:endParaRPr lang="en-US" sz="1300" dirty="0"/>
          </a:p>
        </p:txBody>
      </p:sp>
      <p:sp>
        <p:nvSpPr>
          <p:cNvPr id="10" name="Text 7"/>
          <p:cNvSpPr/>
          <p:nvPr/>
        </p:nvSpPr>
        <p:spPr>
          <a:xfrm>
            <a:off x="6516539" y="2246974"/>
            <a:ext cx="4790609" cy="1092002"/>
          </a:xfrm>
          <a:prstGeom prst="rect">
            <a:avLst/>
          </a:prstGeom>
          <a:noFill/>
          <a:ln/>
        </p:spPr>
        <p:txBody>
          <a:bodyPr wrap="square" lIns="0" tIns="0" rIns="0" bIns="0" rtlCol="0" anchor="t">
            <a:normAutofit/>
          </a:bodyPr>
          <a:lstStyle/>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Regularised linear models (Ridge, Lasso)</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Non-linear regressors (random forest, SVR, gradient boosting)</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Other pretrained encoders</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Any published CXR severity model</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Radiologist disagreement as a reference error</a:t>
            </a:r>
            <a:endParaRPr lang="en-US" sz="1200" dirty="0"/>
          </a:p>
        </p:txBody>
      </p:sp>
      <p:sp>
        <p:nvSpPr>
          <p:cNvPr id="11" name="Text 8"/>
          <p:cNvSpPr/>
          <p:nvPr/>
        </p:nvSpPr>
        <p:spPr>
          <a:xfrm>
            <a:off x="6405033" y="3440576"/>
            <a:ext cx="490973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5521B"/>
                </a:solidFill>
                <a:latin typeface="Arial" pitchFamily="34" charset="0"/>
                <a:ea typeface="Arial" pitchFamily="34" charset="-122"/>
                <a:cs typeface="Arial" pitchFamily="34" charset="-120"/>
              </a:rPr>
              <a:t>Bias: missing baseline comparison</a:t>
            </a:r>
            <a:endParaRPr lang="en-US" sz="1200" dirty="0"/>
          </a:p>
        </p:txBody>
      </p:sp>
      <p:sp>
        <p:nvSpPr>
          <p:cNvPr id="12" name="Text 9"/>
          <p:cNvSpPr/>
          <p:nvPr/>
        </p:nvSpPr>
        <p:spPr>
          <a:xfrm>
            <a:off x="812800" y="5458487"/>
            <a:ext cx="10566400" cy="586714"/>
          </a:xfrm>
          <a:prstGeom prst="roundRect">
            <a:avLst>
              <a:gd name="adj" fmla="val 17317"/>
            </a:avLst>
          </a:prstGeom>
          <a:solidFill>
            <a:srgbClr val="14213D"/>
          </a:solidFill>
          <a:ln/>
        </p:spPr>
        <p:txBody>
          <a:bodyPr wrap="square" lIns="173442" tIns="148042" rIns="0" bIns="122642" rtlCol="0" anchor="t">
            <a:normAutofit/>
          </a:bodyPr>
          <a:lstStyle/>
          <a:p>
            <a:pPr algn="l" indent="0" marL="0">
              <a:lnSpc>
                <a:spcPts val="1820"/>
              </a:lnSpc>
              <a:buNone/>
            </a:pPr>
            <a:r>
              <a:rPr lang="en-US" sz="1300" dirty="0">
                <a:solidFill>
                  <a:srgbClr val="F7F6F2"/>
                </a:solidFill>
                <a:latin typeface="Arial" pitchFamily="34" charset="0"/>
                <a:ea typeface="Arial" pitchFamily="34" charset="-122"/>
                <a:cs typeface="Arial" pitchFamily="34" charset="-120"/>
              </a:rPr>
              <a:t>→ Part II fills this gap: alternative models on the same features and the same 50 patient-grouped splits.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B"/>
                </a:solidFill>
                <a:latin typeface="Arial" pitchFamily="34" charset="0"/>
                <a:ea typeface="Arial" pitchFamily="34" charset="-122"/>
                <a:cs typeface="Arial" pitchFamily="34" charset="-120"/>
              </a:rPr>
              <a:t>PART II · CRITIQUE ④ MODEL TRAINING (1/2)</a:t>
            </a:r>
            <a:endParaRPr lang="en-US" sz="1200" dirty="0"/>
          </a:p>
        </p:txBody>
      </p:sp>
      <p:sp>
        <p:nvSpPr>
          <p:cNvPr id="3" name="Text 1"/>
          <p:cNvSpPr/>
          <p:nvPr>
            <p:ph type="title"/>
          </p:nvPr>
        </p:nvSpPr>
        <p:spPr>
          <a:xfrm>
            <a:off x="812800" y="1102320"/>
            <a:ext cx="10883392" cy="434314"/>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Georgia" pitchFamily="18" charset="0"/>
                <a:ea typeface="Georgia" pitchFamily="18" charset="-122"/>
                <a:cs typeface="Georgia" pitchFamily="18" charset="-120"/>
              </a:rPr>
              <a:t>The final feature set was picked on the test set</a:t>
            </a:r>
            <a:endParaRPr lang="en-US" sz="2800" dirty="0"/>
          </a:p>
        </p:txBody>
      </p:sp>
      <p:sp>
        <p:nvSpPr>
          <p:cNvPr id="4" name="Shape 2"/>
          <p:cNvSpPr/>
          <p:nvPr/>
        </p:nvSpPr>
        <p:spPr>
          <a:xfrm>
            <a:off x="815975" y="1717609"/>
            <a:ext cx="6292850" cy="3491376"/>
          </a:xfrm>
          <a:prstGeom prst="roundRect">
            <a:avLst>
              <a:gd name="adj" fmla="val 2819"/>
            </a:avLst>
          </a:prstGeom>
          <a:solidFill>
            <a:srgbClr val="FDFDFB"/>
          </a:solidFill>
          <a:ln w="6350">
            <a:solidFill>
              <a:srgbClr val="DAD7CE"/>
            </a:solidFill>
            <a:prstDash val="solid"/>
          </a:ln>
        </p:spPr>
      </p:sp>
      <p:sp>
        <p:nvSpPr>
          <p:cNvPr id="5" name="Text 3"/>
          <p:cNvSpPr/>
          <p:nvPr/>
        </p:nvSpPr>
        <p:spPr>
          <a:xfrm>
            <a:off x="1020233" y="1921867"/>
            <a:ext cx="606086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No validation set. The paper says the final model was chosen by training MSE. We re-ran each rule on the same 50 splits:</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032933" y="2488208"/>
          <a:ext cx="5871633" cy="1876557"/>
        </p:xfrm>
        <a:graphic>
          <a:graphicData uri="http://schemas.openxmlformats.org/drawingml/2006/table">
            <a:tbl>
              <a:tblPr/>
              <a:tblGrid>
                <a:gridCol w="3640413"/>
                <a:gridCol w="1115610"/>
                <a:gridCol w="1115610"/>
              </a:tblGrid>
              <a:tr h="545968">
                <a:tc>
                  <a:txBody>
                    <a:bodyPr/>
                    <a:lstStyle/>
                    <a:p>
                      <a:pPr indent="0" marL="0">
                        <a:lnSpc>
                          <a:spcPts val="1680"/>
                        </a:lnSpc>
                        <a:buNone/>
                      </a:pPr>
                      <a:r>
                        <a:rPr lang="en-US" sz="1200" b="1" dirty="0">
                          <a:solidFill>
                            <a:srgbClr val="3E4A5C"/>
                          </a:solidFill>
                          <a:latin typeface="Arial" pitchFamily="34" charset="0"/>
                          <a:ea typeface="Arial" pitchFamily="34" charset="-122"/>
                          <a:cs typeface="Arial" pitchFamily="34" charset="-120"/>
                        </a:rPr>
                        <a:t>Selection rule</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BBBBB9"/>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BBBBB9"/>
                      </a:solidFill>
                      <a:prstDash val="solid"/>
                      <a:round/>
                      <a:headEnd type="none" w="med" len="med"/>
                      <a:tailEnd type="none" w="med" len="med"/>
                    </a:lnB>
                    <a:solidFill>
                      <a:srgbClr val="EAEAE8"/>
                    </a:solidFill>
                  </a:tcPr>
                </a:tc>
                <a:tc>
                  <a:txBody>
                    <a:bodyPr/>
                    <a:lstStyle/>
                    <a:p>
                      <a:pPr algn="r" indent="0" marL="0">
                        <a:lnSpc>
                          <a:spcPts val="1680"/>
                        </a:lnSpc>
                        <a:buNone/>
                      </a:pPr>
                      <a:r>
                        <a:rPr lang="en-US" sz="1200" b="1" dirty="0">
                          <a:solidFill>
                            <a:srgbClr val="3E4A5C"/>
                          </a:solidFill>
                          <a:latin typeface="Arial" pitchFamily="34" charset="0"/>
                          <a:ea typeface="Arial" pitchFamily="34" charset="-122"/>
                          <a:cs typeface="Arial" pitchFamily="34" charset="-120"/>
                        </a:rPr>
                        <a:t>Opacity MAE</a:t>
                      </a:r>
                      <a:endParaRPr lang="en-US" sz="1200" dirty="0">
                        <a:latin typeface="Arial" charset="0"/>
                        <a:ea typeface="Arial" charset="0"/>
                        <a:cs typeface="Arial" charset="0"/>
                      </a:endParaRPr>
                    </a:p>
                  </a:txBody>
                  <a:tcPr marL="53340" marR="53340" marT="53340" marB="53340" anchor="t">
                    <a:lnL w="12700" cap="flat" cmpd="sng" algn="ctr">
                      <a:solidFill>
                        <a:srgbClr val="BBBBB9"/>
                      </a:solidFill>
                      <a:prstDash val="solid"/>
                      <a:round/>
                      <a:headEnd type="none" w="med" len="med"/>
                      <a:tailEnd type="none" w="med" len="med"/>
                    </a:lnL>
                    <a:lnR w="12700" cap="flat" cmpd="sng" algn="ctr">
                      <a:solidFill>
                        <a:srgbClr val="BBBBB9"/>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BBBBB9"/>
                      </a:solidFill>
                      <a:prstDash val="solid"/>
                      <a:round/>
                      <a:headEnd type="none" w="med" len="med"/>
                      <a:tailEnd type="none" w="med" len="med"/>
                    </a:lnB>
                    <a:solidFill>
                      <a:srgbClr val="EAEAE8"/>
                    </a:solidFill>
                  </a:tcPr>
                </a:tc>
                <a:tc>
                  <a:txBody>
                    <a:bodyPr/>
                    <a:lstStyle/>
                    <a:p>
                      <a:pPr algn="r" indent="0" marL="0">
                        <a:lnSpc>
                          <a:spcPts val="1680"/>
                        </a:lnSpc>
                        <a:buNone/>
                      </a:pPr>
                      <a:r>
                        <a:rPr lang="en-US" sz="1200" b="1" dirty="0">
                          <a:solidFill>
                            <a:srgbClr val="3E4A5C"/>
                          </a:solidFill>
                          <a:latin typeface="Arial" pitchFamily="34" charset="0"/>
                          <a:ea typeface="Arial" pitchFamily="34" charset="-122"/>
                          <a:cs typeface="Arial" pitchFamily="34" charset="-120"/>
                        </a:rPr>
                        <a:t>Extent MAE</a:t>
                      </a:r>
                      <a:endParaRPr lang="en-US" sz="1200" dirty="0">
                        <a:latin typeface="Arial" charset="0"/>
                        <a:ea typeface="Arial" charset="0"/>
                        <a:cs typeface="Arial" charset="0"/>
                      </a:endParaRPr>
                    </a:p>
                  </a:txBody>
                  <a:tcPr marL="53340" marR="53340" marT="53340" marB="53340" anchor="t">
                    <a:lnL w="12700" cap="flat" cmpd="sng" algn="ctr">
                      <a:solidFill>
                        <a:srgbClr val="BBBBB9"/>
                      </a:solidFill>
                      <a:prstDash val="solid"/>
                      <a:round/>
                      <a:headEnd type="none" w="med" len="med"/>
                      <a:tailEnd type="none" w="med" len="med"/>
                    </a:lnL>
                    <a:lnR w="12700" cap="flat" cmpd="sng" algn="ctr">
                      <a:solidFill>
                        <a:srgbClr val="BBBBB9"/>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BBBBB9"/>
                      </a:solidFill>
                      <a:prstDash val="solid"/>
                      <a:round/>
                      <a:headEnd type="none" w="med" len="med"/>
                      <a:tailEnd type="none" w="med" len="med"/>
                    </a:lnB>
                    <a:solidFill>
                      <a:srgbClr val="EAEAE8"/>
                    </a:solidFill>
                  </a:tcPr>
                </a:tc>
              </a:tr>
              <a:tr h="332647">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Paper: “1 logit”, picked from Table 1</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BBBBB9"/>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0.788</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BBBBB9"/>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1.161</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BBBBB9"/>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r h="332647">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Paper’s stated rule: training MSE</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1.012</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1.341</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r h="332647">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Nested grouped CV (honest)</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2B5AD"/>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2B5AD"/>
                      </a:solidFill>
                      <a:prstDash val="solid"/>
                      <a:round/>
                      <a:headEnd type="none" w="med" len="med"/>
                      <a:tailEnd type="none" w="med" len="med"/>
                    </a:lnB>
                    <a:solidFill>
                      <a:srgbClr val="F3E3D8"/>
                    </a:solidFill>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0.807</a:t>
                      </a:r>
                      <a:endParaRPr lang="en-US" sz="1200" dirty="0">
                        <a:latin typeface="Arial" charset="0"/>
                        <a:ea typeface="Arial" charset="0"/>
                        <a:cs typeface="Arial" charset="0"/>
                      </a:endParaRPr>
                    </a:p>
                  </a:txBody>
                  <a:tcPr marL="53340" marR="53340" marT="53340" marB="53340" anchor="t">
                    <a:lnL w="12700" cap="flat" cmpd="sng" algn="ctr">
                      <a:solidFill>
                        <a:srgbClr val="C2B5AD"/>
                      </a:solidFill>
                      <a:prstDash val="solid"/>
                      <a:round/>
                      <a:headEnd type="none" w="med" len="med"/>
                      <a:tailEnd type="none" w="med" len="med"/>
                    </a:lnL>
                    <a:lnR w="12700" cap="flat" cmpd="sng" algn="ctr">
                      <a:solidFill>
                        <a:srgbClr val="C2B5AD"/>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2B5AD"/>
                      </a:solidFill>
                      <a:prstDash val="solid"/>
                      <a:round/>
                      <a:headEnd type="none" w="med" len="med"/>
                      <a:tailEnd type="none" w="med" len="med"/>
                    </a:lnB>
                    <a:solidFill>
                      <a:srgbClr val="F3E3D8"/>
                    </a:solidFill>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1.209</a:t>
                      </a:r>
                      <a:endParaRPr lang="en-US" sz="1200" dirty="0">
                        <a:latin typeface="Arial" charset="0"/>
                        <a:ea typeface="Arial" charset="0"/>
                        <a:cs typeface="Arial" charset="0"/>
                      </a:endParaRPr>
                    </a:p>
                  </a:txBody>
                  <a:tcPr marL="53340" marR="53340" marT="53340" marB="53340" anchor="t">
                    <a:lnL w="12700" cap="flat" cmpd="sng" algn="ctr">
                      <a:solidFill>
                        <a:srgbClr val="C2B5AD"/>
                      </a:solidFill>
                      <a:prstDash val="solid"/>
                      <a:round/>
                      <a:headEnd type="none" w="med" len="med"/>
                      <a:tailEnd type="none" w="med" len="med"/>
                    </a:lnL>
                    <a:lnR w="12700" cap="flat" cmpd="sng" algn="ctr">
                      <a:solidFill>
                        <a:srgbClr val="C2B5AD"/>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2B5AD"/>
                      </a:solidFill>
                      <a:prstDash val="solid"/>
                      <a:round/>
                      <a:headEnd type="none" w="med" len="med"/>
                      <a:tailEnd type="none" w="med" len="med"/>
                    </a:lnB>
                    <a:solidFill>
                      <a:srgbClr val="F3E3D8"/>
                    </a:solidFill>
                  </a:tcPr>
                </a:tc>
              </a:tr>
              <a:tr h="332647">
                <a:tc>
                  <a:txBody>
                    <a:bodyPr/>
                    <a:lstStyle/>
                    <a:p>
                      <a:pPr indent="0" marL="0">
                        <a:lnSpc>
                          <a:spcPts val="1680"/>
                        </a:lnSpc>
                        <a:buNone/>
                      </a:pPr>
                      <a:r>
                        <a:rPr lang="en-US" sz="1200" dirty="0">
                          <a:solidFill>
                            <a:srgbClr val="3E4A5C"/>
                          </a:solidFill>
                          <a:latin typeface="Arial" pitchFamily="34" charset="0"/>
                          <a:ea typeface="Arial" pitchFamily="34" charset="-122"/>
                          <a:cs typeface="Arial" pitchFamily="34" charset="-120"/>
                        </a:rPr>
                        <a:t>Best on each test split (cheating)</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2B5AD"/>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0.744</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2B5AD"/>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algn="r" indent="0" marL="0">
                        <a:lnSpc>
                          <a:spcPts val="1680"/>
                        </a:lnSpc>
                        <a:buNone/>
                      </a:pPr>
                      <a:r>
                        <a:rPr lang="en-US" sz="1200" dirty="0">
                          <a:solidFill>
                            <a:srgbClr val="3E4A5C"/>
                          </a:solidFill>
                          <a:latin typeface="Arial" pitchFamily="34" charset="0"/>
                          <a:ea typeface="Arial" pitchFamily="34" charset="-122"/>
                          <a:cs typeface="Arial" pitchFamily="34" charset="-120"/>
                        </a:rPr>
                        <a:t>1.118</a:t>
                      </a:r>
                      <a:endParaRPr lang="en-US" sz="1200" dirty="0">
                        <a:latin typeface="Arial" charset="0"/>
                        <a:ea typeface="Arial" charset="0"/>
                        <a:cs typeface="Arial" charset="0"/>
                      </a:endParaRPr>
                    </a:p>
                  </a:txBody>
                  <a:tcPr marL="53340" marR="53340" marT="53340" marB="53340" anchor="t">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2B5AD"/>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r>
            </a:tbl>
          </a:graphicData>
        </a:graphic>
      </p:graphicFrame>
      <p:sp>
        <p:nvSpPr>
          <p:cNvPr id="7" name="Text 4"/>
          <p:cNvSpPr/>
          <p:nvPr/>
        </p:nvSpPr>
        <p:spPr>
          <a:xfrm>
            <a:off x="1020233" y="4491765"/>
            <a:ext cx="6060863"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Training MSE picks 1024 features in 50 of 50 splits.</a:t>
            </a:r>
            <a:r>
              <a:rPr lang="en-US" sz="1200" dirty="0">
                <a:solidFill>
                  <a:srgbClr val="14213D"/>
                </a:solidFill>
                <a:latin typeface="Arial" pitchFamily="34" charset="0"/>
                <a:ea typeface="Arial" pitchFamily="34" charset="-122"/>
                <a:cs typeface="Arial" pitchFamily="34" charset="-120"/>
              </a:rPr>
              <a:t> Honest selection costs 2–4% MAE: the trend survives, the number is slightly optimistic.</a:t>
            </a:r>
            <a:endParaRPr lang="en-US" sz="1200" dirty="0"/>
          </a:p>
        </p:txBody>
      </p:sp>
      <p:sp>
        <p:nvSpPr>
          <p:cNvPr id="8" name="Shape 5"/>
          <p:cNvSpPr/>
          <p:nvPr/>
        </p:nvSpPr>
        <p:spPr>
          <a:xfrm>
            <a:off x="7318375" y="1717609"/>
            <a:ext cx="4057650" cy="3491376"/>
          </a:xfrm>
          <a:prstGeom prst="roundRect">
            <a:avLst>
              <a:gd name="adj" fmla="val 2819"/>
            </a:avLst>
          </a:prstGeom>
          <a:solidFill>
            <a:srgbClr val="FDFDFB"/>
          </a:solidFill>
          <a:ln w="6350">
            <a:solidFill>
              <a:srgbClr val="DAD7CE"/>
            </a:solidFill>
            <a:prstDash val="solid"/>
          </a:ln>
        </p:spPr>
      </p:sp>
      <p:sp>
        <p:nvSpPr>
          <p:cNvPr id="9" name="Text 6"/>
          <p:cNvSpPr/>
          <p:nvPr/>
        </p:nvSpPr>
        <p:spPr>
          <a:xfrm>
            <a:off x="7522634" y="1921867"/>
            <a:ext cx="3758607" cy="223507"/>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13D"/>
                </a:solidFill>
                <a:latin typeface="Arial" pitchFamily="34" charset="0"/>
                <a:ea typeface="Arial" pitchFamily="34" charset="-122"/>
                <a:cs typeface="Arial" pitchFamily="34" charset="-120"/>
              </a:rPr>
              <a:t>Bias vs variance</a:t>
            </a:r>
            <a:endParaRPr lang="en-US" sz="1300" dirty="0"/>
          </a:p>
        </p:txBody>
      </p:sp>
      <p:pic>
        <p:nvPicPr>
          <p:cNvPr id="10" name="Image 0" descr="Bar charts of mean train and test MSE for each feature set, opacity and extent. 1024 features have near-zero train MSE but the highest test MSE among non-constant models.">    </p:cNvPr>
          <p:cNvPicPr>
            <a:picLocks noChangeAspect="1"/>
          </p:cNvPicPr>
          <p:nvPr/>
        </p:nvPicPr>
        <p:blipFill>
          <a:blip r:embed="rId1"/>
          <a:srcRect l="0" r="0" t="-130" b="-130"/>
          <a:stretch/>
        </p:blipFill>
        <p:spPr>
          <a:xfrm>
            <a:off x="7522634" y="2221574"/>
            <a:ext cx="3657600" cy="1333500"/>
          </a:xfrm>
          <a:prstGeom prst="rect">
            <a:avLst/>
          </a:prstGeom>
        </p:spPr>
      </p:pic>
      <p:sp>
        <p:nvSpPr>
          <p:cNvPr id="11" name="Text 7"/>
          <p:cNvSpPr/>
          <p:nvPr/>
        </p:nvSpPr>
        <p:spPr>
          <a:xfrm>
            <a:off x="7522634" y="3656674"/>
            <a:ext cx="375860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1024 features: train MSE ≈ 0 on ~47 images, worst test MSE. 1 logit: train ≈ test, bias-limited.</a:t>
            </a:r>
            <a:endParaRPr lang="en-US" sz="1200" dirty="0"/>
          </a:p>
        </p:txBody>
      </p:sp>
      <p:sp>
        <p:nvSpPr>
          <p:cNvPr id="12" name="Text 8"/>
          <p:cNvSpPr/>
          <p:nvPr/>
        </p:nvSpPr>
        <p:spPr>
          <a:xfrm>
            <a:off x="812800" y="5415359"/>
            <a:ext cx="3420533" cy="629841"/>
          </a:xfrm>
          <a:prstGeom prst="roundRect">
            <a:avLst>
              <a:gd name="adj" fmla="val 12098"/>
            </a:avLst>
          </a:prstGeom>
          <a:solidFill>
            <a:srgbClr val="ECEAE3"/>
          </a:solidFill>
          <a:ln/>
        </p:spPr>
        <p:txBody>
          <a:bodyPr wrap="square" lIns="130082" tIns="79282" rIns="36610" bIns="53882" rtlCol="0" anchor="t">
            <a:normAutofit/>
          </a:bodyPr>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Reproducible: Part I MAE 0.79 / 1.16 vs 0.78 / 1.14</a:t>
            </a:r>
            <a:endParaRPr lang="en-US" sz="1200" dirty="0"/>
          </a:p>
        </p:txBody>
      </p:sp>
      <p:sp>
        <p:nvSpPr>
          <p:cNvPr id="13" name="Text 9"/>
          <p:cNvSpPr/>
          <p:nvPr/>
        </p:nvSpPr>
        <p:spPr>
          <a:xfrm>
            <a:off x="4385733" y="5415359"/>
            <a:ext cx="3420533" cy="629841"/>
          </a:xfrm>
          <a:prstGeom prst="roundRect">
            <a:avLst>
              <a:gd name="adj" fmla="val 12098"/>
            </a:avLst>
          </a:prstGeom>
          <a:solidFill>
            <a:srgbClr val="ECEAE3"/>
          </a:solidFill>
          <a:ln/>
        </p:spPr>
        <p:txBody>
          <a:bodyPr wrap="square" lIns="130082" tIns="79282" rIns="36610" bIns="53882" rtlCol="0" anchor="t">
            <a:normAutofit/>
          </a:bodyPr>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SD over 50 overlapping splits is not a CI</a:t>
            </a:r>
            <a:endParaRPr lang="en-US" sz="1200" dirty="0"/>
          </a:p>
        </p:txBody>
      </p:sp>
      <p:sp>
        <p:nvSpPr>
          <p:cNvPr id="14" name="Text 10"/>
          <p:cNvSpPr/>
          <p:nvPr/>
        </p:nvSpPr>
        <p:spPr>
          <a:xfrm>
            <a:off x="7958667" y="5415359"/>
            <a:ext cx="3420533" cy="629841"/>
          </a:xfrm>
          <a:prstGeom prst="roundRect">
            <a:avLst>
              <a:gd name="adj" fmla="val 12098"/>
            </a:avLst>
          </a:prstGeom>
          <a:solidFill>
            <a:srgbClr val="ECEAE3"/>
          </a:solidFill>
          <a:ln/>
        </p:spPr>
        <p:txBody>
          <a:bodyPr wrap="square" lIns="130082" tIns="79282" rIns="36610" bIns="53882" rtlCol="0" anchor="t">
            <a:normAutofit/>
          </a:bodyPr>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One public source, no external cohort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B"/>
                </a:solidFill>
                <a:latin typeface="Arial" pitchFamily="34" charset="0"/>
                <a:ea typeface="Arial" pitchFamily="34" charset="-122"/>
                <a:cs typeface="Arial" pitchFamily="34" charset="-120"/>
              </a:rPr>
              <a:t>PART II · CRITIQUE ④ MODEL TRAINING (2/2)</a:t>
            </a:r>
            <a:endParaRPr lang="en-US" sz="1200" dirty="0"/>
          </a:p>
        </p:txBody>
      </p:sp>
      <p:sp>
        <p:nvSpPr>
          <p:cNvPr id="3" name="Text 1"/>
          <p:cNvSpPr/>
          <p:nvPr>
            <p:ph type="title"/>
          </p:nvPr>
        </p:nvSpPr>
        <p:spPr>
          <a:xfrm>
            <a:off x="812800" y="1102320"/>
            <a:ext cx="10883392" cy="434314"/>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Georgia" pitchFamily="18" charset="0"/>
                <a:ea typeface="Georgia" pitchFamily="18" charset="-122"/>
                <a:cs typeface="Georgia" pitchFamily="18" charset="-120"/>
              </a:rPr>
              <a:t>Calibrated on average, short on severe cases</a:t>
            </a:r>
            <a:endParaRPr lang="en-US" sz="2800" dirty="0"/>
          </a:p>
        </p:txBody>
      </p:sp>
      <p:sp>
        <p:nvSpPr>
          <p:cNvPr id="4" name="Shape 2"/>
          <p:cNvSpPr/>
          <p:nvPr/>
        </p:nvSpPr>
        <p:spPr>
          <a:xfrm>
            <a:off x="815975" y="1717610"/>
            <a:ext cx="5200650" cy="4324416"/>
          </a:xfrm>
          <a:prstGeom prst="roundRect">
            <a:avLst>
              <a:gd name="adj" fmla="val 2276"/>
            </a:avLst>
          </a:prstGeom>
          <a:solidFill>
            <a:srgbClr val="FDFDFB"/>
          </a:solidFill>
          <a:ln w="6350">
            <a:solidFill>
              <a:srgbClr val="DAD7CE"/>
            </a:solidFill>
            <a:prstDash val="solid"/>
          </a:ln>
        </p:spPr>
      </p:sp>
      <p:pic>
        <p:nvPicPr>
          <p:cNvPr id="5" name="Image 0" descr="Top: residual versus expert score for opacity and extent, pooled over 50 test splits, falling from positive at low scores to negative at high scores. Bottom: binned calibration plots close to the diagonal, slopes 1.02 and 1.04.">    </p:cNvPr>
          <p:cNvPicPr>
            <a:picLocks noChangeAspect="1"/>
          </p:cNvPicPr>
          <p:nvPr/>
        </p:nvPicPr>
        <p:blipFill>
          <a:blip r:embed="rId1"/>
          <a:srcRect l="0" r="0" t="-106" b="-106"/>
          <a:stretch/>
        </p:blipFill>
        <p:spPr>
          <a:xfrm>
            <a:off x="918633" y="1831910"/>
            <a:ext cx="4995333" cy="4095750"/>
          </a:xfrm>
          <a:prstGeom prst="rect">
            <a:avLst/>
          </a:prstGeom>
        </p:spPr>
      </p:pic>
      <p:sp>
        <p:nvSpPr>
          <p:cNvPr id="6" name="Text 3"/>
          <p:cNvSpPr/>
          <p:nvPr/>
        </p:nvSpPr>
        <p:spPr>
          <a:xfrm>
            <a:off x="6223000" y="1714435"/>
            <a:ext cx="1320800"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B5521B"/>
                </a:solidFill>
                <a:latin typeface="Georgia" pitchFamily="18" charset="0"/>
                <a:ea typeface="Georgia" pitchFamily="18" charset="-122"/>
                <a:cs typeface="Georgia" pitchFamily="18" charset="-120"/>
              </a:rPr>
              <a:t>+0.72</a:t>
            </a:r>
            <a:endParaRPr lang="en-US" sz="2800" dirty="0"/>
          </a:p>
        </p:txBody>
      </p:sp>
      <p:sp>
        <p:nvSpPr>
          <p:cNvPr id="7" name="Text 4"/>
          <p:cNvSpPr/>
          <p:nvPr/>
        </p:nvSpPr>
        <p:spPr>
          <a:xfrm>
            <a:off x="7645400" y="1856648"/>
            <a:ext cx="384581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mean error when expert opacity ≤ 1 (extent: +0.86)</a:t>
            </a:r>
            <a:endParaRPr lang="en-US" sz="1200" dirty="0"/>
          </a:p>
        </p:txBody>
      </p:sp>
      <p:sp>
        <p:nvSpPr>
          <p:cNvPr id="8" name="Text 5"/>
          <p:cNvSpPr/>
          <p:nvPr/>
        </p:nvSpPr>
        <p:spPr>
          <a:xfrm>
            <a:off x="6223000" y="2364648"/>
            <a:ext cx="1320800"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B5521B"/>
                </a:solidFill>
                <a:latin typeface="Georgia" pitchFamily="18" charset="0"/>
                <a:ea typeface="Georgia" pitchFamily="18" charset="-122"/>
                <a:cs typeface="Georgia" pitchFamily="18" charset="-120"/>
              </a:rPr>
              <a:t>−0.87</a:t>
            </a:r>
            <a:endParaRPr lang="en-US" sz="2800" dirty="0"/>
          </a:p>
        </p:txBody>
      </p:sp>
      <p:sp>
        <p:nvSpPr>
          <p:cNvPr id="9" name="Text 6"/>
          <p:cNvSpPr/>
          <p:nvPr/>
        </p:nvSpPr>
        <p:spPr>
          <a:xfrm>
            <a:off x="7645400" y="2506861"/>
            <a:ext cx="384581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mean error when expert opacity &gt; 4 (extent: −1.07)</a:t>
            </a:r>
            <a:endParaRPr lang="en-US" sz="1200" dirty="0"/>
          </a:p>
        </p:txBody>
      </p:sp>
      <p:sp>
        <p:nvSpPr>
          <p:cNvPr id="10" name="Text 7"/>
          <p:cNvSpPr/>
          <p:nvPr/>
        </p:nvSpPr>
        <p:spPr>
          <a:xfrm>
            <a:off x="6223000" y="3014861"/>
            <a:ext cx="1320800"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14213D"/>
                </a:solidFill>
                <a:latin typeface="Georgia" pitchFamily="18" charset="0"/>
                <a:ea typeface="Georgia" pitchFamily="18" charset="-122"/>
                <a:cs typeface="Georgia" pitchFamily="18" charset="-120"/>
              </a:rPr>
              <a:t>1.02</a:t>
            </a:r>
            <a:endParaRPr lang="en-US" sz="2800" dirty="0"/>
          </a:p>
        </p:txBody>
      </p:sp>
      <p:sp>
        <p:nvSpPr>
          <p:cNvPr id="11" name="Text 8"/>
          <p:cNvSpPr/>
          <p:nvPr/>
        </p:nvSpPr>
        <p:spPr>
          <a:xfrm>
            <a:off x="7645400" y="3050448"/>
            <a:ext cx="384581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calibration slope, opacity (extent 1.04): a prediction of 3 means ~3</a:t>
            </a:r>
            <a:endParaRPr lang="en-US" sz="1200" dirty="0"/>
          </a:p>
        </p:txBody>
      </p:sp>
      <p:sp>
        <p:nvSpPr>
          <p:cNvPr id="12" name="Text 9"/>
          <p:cNvSpPr/>
          <p:nvPr/>
        </p:nvSpPr>
        <p:spPr>
          <a:xfrm>
            <a:off x="6223000" y="3665076"/>
            <a:ext cx="5156200" cy="944761"/>
          </a:xfrm>
          <a:prstGeom prst="roundRect">
            <a:avLst>
              <a:gd name="adj" fmla="val 10754"/>
            </a:avLst>
          </a:prstGeom>
          <a:solidFill>
            <a:srgbClr val="14213D"/>
          </a:solidFill>
          <a:ln/>
        </p:spPr>
        <p:txBody>
          <a:bodyPr wrap="square" lIns="148042" tIns="122642" rIns="4024" bIns="97242" rtlCol="0" anchor="t">
            <a:normAutofit/>
          </a:bodyPr>
          <a:lstStyle/>
          <a:p>
            <a:pPr algn="l" indent="0" marL="0">
              <a:lnSpc>
                <a:spcPts val="1680"/>
              </a:lnSpc>
              <a:buNone/>
            </a:pPr>
            <a:r>
              <a:rPr lang="en-US" sz="1200" dirty="0">
                <a:solidFill>
                  <a:srgbClr val="F7F6F2"/>
                </a:solidFill>
                <a:latin typeface="Arial" pitchFamily="34" charset="0"/>
                <a:ea typeface="Arial" pitchFamily="34" charset="-122"/>
                <a:cs typeface="Arial" pitchFamily="34" charset="-120"/>
              </a:rPr>
              <a:t>Not miscalibration: any model with R² ≈ 0.6 regresses to the mean. The real issue is a compressed range, so the sickest patients, the ICU use case, score ~1 point too low.</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CEAE3"/>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B"/>
                </a:solidFill>
                <a:latin typeface="Arial" pitchFamily="34" charset="0"/>
                <a:ea typeface="Arial" pitchFamily="34" charset="-122"/>
                <a:cs typeface="Arial" pitchFamily="34" charset="-120"/>
              </a:rPr>
              <a:t>PART II · CRITIQUE ⑤ MODEL DEPLOYMENT</a:t>
            </a:r>
            <a:endParaRPr lang="en-US" sz="1200" dirty="0"/>
          </a:p>
        </p:txBody>
      </p:sp>
      <p:sp>
        <p:nvSpPr>
          <p:cNvPr id="3" name="Text 1"/>
          <p:cNvSpPr/>
          <p:nvPr>
            <p:ph type="title"/>
          </p:nvPr>
        </p:nvSpPr>
        <p:spPr>
          <a:xfrm>
            <a:off x="812800" y="1102320"/>
            <a:ext cx="10883392" cy="434314"/>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14213D"/>
                </a:solidFill>
                <a:latin typeface="Georgia" pitchFamily="18" charset="0"/>
                <a:ea typeface="Georgia" pitchFamily="18" charset="-122"/>
                <a:cs typeface="Georgia" pitchFamily="18" charset="-120"/>
              </a:rPr>
              <a:t>A proof of concept, not a deployable tool</a:t>
            </a:r>
            <a:endParaRPr lang="en-US" sz="2800" dirty="0"/>
          </a:p>
        </p:txBody>
      </p:sp>
      <p:sp>
        <p:nvSpPr>
          <p:cNvPr id="4" name="Shape 2"/>
          <p:cNvSpPr/>
          <p:nvPr/>
        </p:nvSpPr>
        <p:spPr>
          <a:xfrm>
            <a:off x="812800" y="1714435"/>
            <a:ext cx="3420533" cy="1330854"/>
          </a:xfrm>
          <a:prstGeom prst="roundRect">
            <a:avLst>
              <a:gd name="adj" fmla="val 7634"/>
            </a:avLst>
          </a:prstGeom>
          <a:solidFill>
            <a:srgbClr val="FDFDFB"/>
          </a:solidFill>
          <a:ln/>
        </p:spPr>
      </p:sp>
      <p:sp>
        <p:nvSpPr>
          <p:cNvPr id="5" name="Text 3"/>
          <p:cNvSpPr/>
          <p:nvPr/>
        </p:nvSpPr>
        <p:spPr>
          <a:xfrm>
            <a:off x="990600" y="1892235"/>
            <a:ext cx="3156881"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B5521B"/>
                </a:solidFill>
                <a:latin typeface="Georgia" pitchFamily="18" charset="0"/>
                <a:ea typeface="Georgia" pitchFamily="18" charset="-122"/>
                <a:cs typeface="Georgia" pitchFamily="18" charset="-120"/>
              </a:rPr>
              <a:t>3.8%</a:t>
            </a:r>
            <a:endParaRPr lang="en-US" sz="2800" dirty="0"/>
          </a:p>
        </p:txBody>
      </p:sp>
      <p:sp>
        <p:nvSpPr>
          <p:cNvPr id="6" name="Text 4"/>
          <p:cNvSpPr/>
          <p:nvPr/>
        </p:nvSpPr>
        <p:spPr>
          <a:xfrm>
            <a:off x="990600" y="2440848"/>
            <a:ext cx="3156881"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of opacity predictions fall outside 0–6, mostly negative</a:t>
            </a:r>
            <a:endParaRPr lang="en-US" sz="1200" dirty="0"/>
          </a:p>
        </p:txBody>
      </p:sp>
      <p:sp>
        <p:nvSpPr>
          <p:cNvPr id="7" name="Shape 5"/>
          <p:cNvSpPr/>
          <p:nvPr/>
        </p:nvSpPr>
        <p:spPr>
          <a:xfrm>
            <a:off x="4385733" y="1714435"/>
            <a:ext cx="3420533" cy="1330854"/>
          </a:xfrm>
          <a:prstGeom prst="roundRect">
            <a:avLst>
              <a:gd name="adj" fmla="val 7634"/>
            </a:avLst>
          </a:prstGeom>
          <a:solidFill>
            <a:srgbClr val="FDFDFB"/>
          </a:solidFill>
          <a:ln/>
        </p:spPr>
      </p:sp>
      <p:sp>
        <p:nvSpPr>
          <p:cNvPr id="8" name="Text 6"/>
          <p:cNvSpPr/>
          <p:nvPr/>
        </p:nvSpPr>
        <p:spPr>
          <a:xfrm>
            <a:off x="4563533" y="1892235"/>
            <a:ext cx="3156881"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B5521B"/>
                </a:solidFill>
                <a:latin typeface="Georgia" pitchFamily="18" charset="0"/>
                <a:ea typeface="Georgia" pitchFamily="18" charset="-122"/>
                <a:cs typeface="Georgia" pitchFamily="18" charset="-120"/>
              </a:rPr>
              <a:t>5.9%</a:t>
            </a:r>
            <a:endParaRPr lang="en-US" sz="2800" dirty="0"/>
          </a:p>
        </p:txBody>
      </p:sp>
      <p:sp>
        <p:nvSpPr>
          <p:cNvPr id="9" name="Text 7"/>
          <p:cNvSpPr/>
          <p:nvPr/>
        </p:nvSpPr>
        <p:spPr>
          <a:xfrm>
            <a:off x="4563533" y="2440848"/>
            <a:ext cx="3156881"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of extent predictions fall outside 0–8; clipping cuts MAE 1.16 → 1.10</a:t>
            </a:r>
            <a:endParaRPr lang="en-US" sz="1200" dirty="0"/>
          </a:p>
        </p:txBody>
      </p:sp>
      <p:sp>
        <p:nvSpPr>
          <p:cNvPr id="10" name="Shape 8"/>
          <p:cNvSpPr/>
          <p:nvPr/>
        </p:nvSpPr>
        <p:spPr>
          <a:xfrm>
            <a:off x="7958667" y="1714435"/>
            <a:ext cx="3420533" cy="1330854"/>
          </a:xfrm>
          <a:prstGeom prst="roundRect">
            <a:avLst>
              <a:gd name="adj" fmla="val 7634"/>
            </a:avLst>
          </a:prstGeom>
          <a:solidFill>
            <a:srgbClr val="FDFDFB"/>
          </a:solidFill>
          <a:ln/>
        </p:spPr>
      </p:sp>
      <p:sp>
        <p:nvSpPr>
          <p:cNvPr id="11" name="Text 9"/>
          <p:cNvSpPr/>
          <p:nvPr/>
        </p:nvSpPr>
        <p:spPr>
          <a:xfrm>
            <a:off x="8136467" y="1892235"/>
            <a:ext cx="3156881"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B5521B"/>
                </a:solidFill>
                <a:latin typeface="Georgia" pitchFamily="18" charset="0"/>
                <a:ea typeface="Georgia" pitchFamily="18" charset="-122"/>
                <a:cs typeface="Georgia" pitchFamily="18" charset="-120"/>
              </a:rPr>
              <a:t>11 / 94</a:t>
            </a:r>
            <a:endParaRPr lang="en-US" sz="2800" dirty="0"/>
          </a:p>
        </p:txBody>
      </p:sp>
      <p:sp>
        <p:nvSpPr>
          <p:cNvPr id="12" name="Text 10"/>
          <p:cNvSpPr/>
          <p:nvPr/>
        </p:nvSpPr>
        <p:spPr>
          <a:xfrm>
            <a:off x="8136467" y="2440848"/>
            <a:ext cx="3156881"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E4A5C"/>
                </a:solidFill>
                <a:latin typeface="Arial" pitchFamily="34" charset="0"/>
                <a:ea typeface="Arial" pitchFamily="34" charset="-122"/>
                <a:cs typeface="Arial" pitchFamily="34" charset="-120"/>
              </a:rPr>
              <a:t>“PA” images later relabelled AP; ICU films are mostly bedside AP</a:t>
            </a:r>
            <a:endParaRPr lang="en-US" sz="1200" dirty="0"/>
          </a:p>
        </p:txBody>
      </p:sp>
      <p:sp>
        <p:nvSpPr>
          <p:cNvPr id="13" name="Shape 11"/>
          <p:cNvSpPr/>
          <p:nvPr/>
        </p:nvSpPr>
        <p:spPr>
          <a:xfrm>
            <a:off x="812800" y="3248489"/>
            <a:ext cx="5194300" cy="2796712"/>
          </a:xfrm>
          <a:prstGeom prst="roundRect">
            <a:avLst>
              <a:gd name="adj" fmla="val 3633"/>
            </a:avLst>
          </a:prstGeom>
          <a:solidFill>
            <a:srgbClr val="FDFDFB"/>
          </a:solidFill>
          <a:ln/>
        </p:spPr>
      </p:sp>
      <p:sp>
        <p:nvSpPr>
          <p:cNvPr id="14" name="Text 12"/>
          <p:cNvSpPr/>
          <p:nvPr/>
        </p:nvSpPr>
        <p:spPr>
          <a:xfrm>
            <a:off x="990600" y="3426289"/>
            <a:ext cx="4983861" cy="223507"/>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4213D"/>
                </a:solidFill>
                <a:latin typeface="Arial" pitchFamily="34" charset="0"/>
                <a:ea typeface="Arial" pitchFamily="34" charset="-122"/>
                <a:cs typeface="Arial" pitchFamily="34" charset="-120"/>
              </a:rPr>
              <a:t>Limitations the authors state</a:t>
            </a:r>
            <a:endParaRPr lang="en-US" sz="1300" dirty="0"/>
          </a:p>
        </p:txBody>
      </p:sp>
      <p:sp>
        <p:nvSpPr>
          <p:cNvPr id="15" name="Text 13"/>
          <p:cNvSpPr/>
          <p:nvPr/>
        </p:nvSpPr>
        <p:spPr>
          <a:xfrm>
            <a:off x="1102106" y="3725996"/>
            <a:ext cx="4864735" cy="878681"/>
          </a:xfrm>
          <a:prstGeom prst="rect">
            <a:avLst/>
          </a:prstGeom>
          <a:noFill/>
          <a:ln/>
        </p:spPr>
        <p:txBody>
          <a:bodyPr wrap="square" lIns="0" tIns="0" rIns="0" bIns="0" rtlCol="0" anchor="t">
            <a:normAutofit/>
          </a:bodyPr>
          <a:lstStyle/>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Small sample, exposed to sample bias</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No external cohort with the same score</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Scores not linked to clinical outcomes</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Saliency maps give a limited view</a:t>
            </a:r>
            <a:endParaRPr lang="en-US" sz="1200" dirty="0"/>
          </a:p>
        </p:txBody>
      </p:sp>
      <p:sp>
        <p:nvSpPr>
          <p:cNvPr id="16" name="Shape 14"/>
          <p:cNvSpPr/>
          <p:nvPr/>
        </p:nvSpPr>
        <p:spPr>
          <a:xfrm>
            <a:off x="6165850" y="3254839"/>
            <a:ext cx="5207000" cy="2784012"/>
          </a:xfrm>
          <a:prstGeom prst="roundRect">
            <a:avLst>
              <a:gd name="adj" fmla="val 3421"/>
            </a:avLst>
          </a:prstGeom>
          <a:solidFill>
            <a:srgbClr val="FDFDFB"/>
          </a:solidFill>
          <a:ln w="12700">
            <a:solidFill>
              <a:srgbClr val="B5521B"/>
            </a:solidFill>
            <a:prstDash val="solid"/>
          </a:ln>
        </p:spPr>
      </p:sp>
      <p:sp>
        <p:nvSpPr>
          <p:cNvPr id="17" name="Text 15"/>
          <p:cNvSpPr/>
          <p:nvPr/>
        </p:nvSpPr>
        <p:spPr>
          <a:xfrm>
            <a:off x="6350000" y="3438989"/>
            <a:ext cx="4983861" cy="223507"/>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B5521B"/>
                </a:solidFill>
                <a:latin typeface="Arial" pitchFamily="34" charset="0"/>
                <a:ea typeface="Arial" pitchFamily="34" charset="-122"/>
                <a:cs typeface="Arial" pitchFamily="34" charset="-120"/>
              </a:rPr>
              <a:t>Limitations left unstated</a:t>
            </a:r>
            <a:endParaRPr lang="en-US" sz="1300" dirty="0"/>
          </a:p>
        </p:txBody>
      </p:sp>
      <p:sp>
        <p:nvSpPr>
          <p:cNvPr id="18" name="Text 16"/>
          <p:cNvSpPr/>
          <p:nvPr/>
        </p:nvSpPr>
        <p:spPr>
          <a:xfrm>
            <a:off x="6461506" y="3738696"/>
            <a:ext cx="4864735" cy="1092002"/>
          </a:xfrm>
          <a:prstGeom prst="rect">
            <a:avLst/>
          </a:prstGeom>
          <a:noFill/>
          <a:ln/>
        </p:spPr>
        <p:txBody>
          <a:bodyPr wrap="square" lIns="0" tIns="0" rIns="0" bIns="0" rtlCol="0" anchor="t">
            <a:normAutofit/>
          </a:bodyPr>
          <a:lstStyle/>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Feature set chosen on test results</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Out-of-range severity scores</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Severe cases underestimated</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PA-only evaluation vs bedside AP in ICU</a:t>
            </a:r>
            <a:endParaRPr lang="en-US" sz="1200" dirty="0"/>
          </a:p>
          <a:p>
            <a:pPr algn="l" marL="142494" indent="-142494">
              <a:lnSpc>
                <a:spcPts val="1680"/>
              </a:lnSpc>
              <a:buSzPct val="100000"/>
              <a:buChar char="•"/>
            </a:pPr>
            <a:r>
              <a:rPr lang="en-US" sz="1200" dirty="0">
                <a:solidFill>
                  <a:srgbClr val="3E4A5C"/>
                </a:solidFill>
                <a:latin typeface="Arial" pitchFamily="34" charset="0"/>
                <a:ea typeface="Arial" pitchFamily="34" charset="-122"/>
                <a:cs typeface="Arial" pitchFamily="34" charset="-120"/>
              </a:rPr>
              <a:t>No uncertainty, drift or automation-bias plan</a:t>
            </a:r>
            <a:endParaRPr lang="en-US" sz="1200" dirty="0"/>
          </a:p>
        </p:txBody>
      </p:sp>
    </p:spTree>
  </p:cSld>
  <p:clrMapOvr>
    <a:masterClrMapping/>
  </p:clrMapOvr>
</p:sld>
</file>

<file path=ppt/theme/theme1.xml><?xml version="1.0" encoding="utf-8"?>
<a:theme xmlns:a="http://schemas.openxmlformats.org/drawingml/2006/main" name="DSA5206 Critique D">
  <a:themeElements>
    <a:clrScheme name="DSA5206 Critique D">
      <a:dk1>
        <a:srgbClr val="14213D"/>
      </a:dk1>
      <a:lt1>
        <a:srgbClr val="F7F6F2"/>
      </a:lt1>
      <a:dk2>
        <a:srgbClr val="4D566A"/>
      </a:dk2>
      <a:lt2>
        <a:srgbClr val="E0E1E0"/>
      </a:lt2>
      <a:accent1>
        <a:srgbClr val="B5521B"/>
      </a:accent1>
      <a:accent2>
        <a:srgbClr val="3E4A5C"/>
      </a:accent2>
      <a:accent3>
        <a:srgbClr val="9AA0A6"/>
      </a:accent3>
      <a:accent4>
        <a:srgbClr val="6F7685"/>
      </a:accent4>
      <a:accent5>
        <a:srgbClr val="9196A1"/>
      </a:accent5>
      <a:accent6>
        <a:srgbClr val="B3B6BC"/>
      </a:accent6>
      <a:hlink>
        <a:srgbClr val="0563C1"/>
      </a:hlink>
      <a:folHlink>
        <a:srgbClr val="954F72"/>
      </a:folHlink>
    </a:clrScheme>
    <a:fontScheme name="DSA5206 Critique 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DSA5206 Critique D</dc:title>
  <dc:subject/>
  <dc:creator/>
  <cp:lastModifiedBy/>
  <cp:revision>1</cp:revision>
  <dcterms:created xsi:type="dcterms:W3CDTF">2026-10-25T09:12:07Z</dcterms:created>
  <dcterms:modified xsi:type="dcterms:W3CDTF">2026-10-25T09:12:07Z</dcterms:modified>
</cp:coreProperties>
</file>