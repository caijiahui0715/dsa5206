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the data come from? All 94 images were scraped from public sources. 39 are figures cut out of journal articles, 26 come from case reports of the Italian radiology society SIRM, 18 from Radiopaedia, 8 from a PDF published by the Academy of Medicine Singapore, and 3 from other case-sharing sites. They belong to 65 patients, so many patients contribute several time points. Geographically, Italy dominates with 29 images, and 19 images have no location at all. There is nothing from Africa, South America or South Asia, and every image is from the first three months of the pandemic. These are cases someone chose to publish, typically interesting or severe ones, so this is a convenience sample, not a clinical cohort. In the lecture’s terms that is sampling bias, institutional bias from a handful of hospitals and websites, and demographic bias, since no population is described beyond age and sex. On ethics: the paper reports approval from the CERSES ethics committee and says consent was obtained or waived; since the images were taken from publications, it can only have been waived. The study was not registered, which is common for a retrospective study on public data, but the lecture checklist asks for it. Licensing is also unclear: 66 of the 94 images have no licence recorded in the dataset metadata.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does the paper describe its cohort correctly? Left: the paper reports 44 men and 36 women, and says there was no missing data. In the data we actually reproduced, 45 images are male and 32 female, which is 31 and 24 at patient level; sex is missing for 17 images and age for 25. The age statistics are close, but 44 plus 36 is 80, which matches neither 77 images nor 55 patients with known sex, so the description was probably computed on a different version of the metadata. Right: the paper says all 94 images are posteroanterior. The dataset maintainers have since relabelled 11 of them as AP or AP supine and removed one. We also looked at every image ourselves: five more have the projection burned into the film, for example “AP Sitting, Portable” or the Italian “CLINO”, meaning lying down, yet they are still labelled PA. In total 17 of 94 images, 18 percent, cannot be trusted to meet the paper’s own inclusion criterion. The full list is in our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preparation. The labels come from three blinded readers, two senior chest radiologists and a resident, each scoring one image without clinical context. That is good practice, but agreement on opacity is only moderate, a Fleiss kappa of 0.45, and 0.71 for extent. Only the average of the three readers is released, so we cannot audit label noise ourselves, and there is no reference standard such as CT. The images themselves are not clinical DICOMs. Left: a journal figure with “AP Sitting, Portable” and even “Lossy compressed” burned in, which is still labelled PA. Middle: a crop from a Singapore PDF at about 500 pixels, with a white arrow pointing at the lesion; the readers saw that arrow when scoring, and so does the model. Right: a 255-pixel crop from a Nature Medicine figure, marked “MOBILE ERECT AP”. Overall, 24 of 94 images are under 600 pixels on their shorter side and formats are mixed: JPEG, PNG with transparency, greyscale. Preprocessing takes the first colour channel, centre-crops and resizes to 224 pixels. It removes no annotations, does no lung segmentation and no augmentation. Finally, the paper claims there is no missing data, but age is missing for 25 images, sex for 17 and survival for 59, and the paper does not say how this was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08930"/>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Georgia" pitchFamily="34" charset="0"/>
                <a:ea typeface="Georgia" pitchFamily="34" charset="-122"/>
                <a:cs typeface="Georgia"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816050"/>
            <a:ext cx="10566400" cy="422915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08930"/>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Georgia" pitchFamily="34" charset="0"/>
                <a:ea typeface="Georgia" pitchFamily="34" charset="-122"/>
                <a:cs typeface="Georgia"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816050"/>
            <a:ext cx="10566400" cy="422915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B"/>
                </a:solidFill>
                <a:latin typeface="Arial" pitchFamily="34" charset="0"/>
                <a:ea typeface="Arial" pitchFamily="34" charset="-122"/>
                <a:cs typeface="Arial" pitchFamily="34" charset="-120"/>
              </a:rPr>
              <a:t>PART II · CRITIQUE ① DATA COLLECTION (1/2)</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Georgia" pitchFamily="18" charset="0"/>
                <a:ea typeface="Georgia" pitchFamily="18" charset="-122"/>
                <a:cs typeface="Georgia" pitchFamily="18" charset="-120"/>
              </a:rPr>
              <a:t>94 images collected from papers and case websites</a:t>
            </a:r>
            <a:endParaRPr lang="en-US" sz="2800" dirty="0"/>
          </a:p>
        </p:txBody>
      </p:sp>
      <p:sp>
        <p:nvSpPr>
          <p:cNvPr id="4" name="Shape 2"/>
          <p:cNvSpPr/>
          <p:nvPr/>
        </p:nvSpPr>
        <p:spPr>
          <a:xfrm>
            <a:off x="815975" y="1717625"/>
            <a:ext cx="5384800" cy="4324400"/>
          </a:xfrm>
          <a:prstGeom prst="roundRect">
            <a:avLst>
              <a:gd name="adj" fmla="val 2276"/>
            </a:avLst>
          </a:prstGeom>
          <a:solidFill>
            <a:srgbClr val="FDFDFB"/>
          </a:solidFill>
          <a:ln w="6350">
            <a:solidFill>
              <a:srgbClr val="DAD7CE"/>
            </a:solidFill>
            <a:prstDash val="solid"/>
          </a:ln>
        </p:spPr>
      </p:sp>
      <p:sp>
        <p:nvSpPr>
          <p:cNvPr id="5" name="Text 3"/>
          <p:cNvSpPr/>
          <p:nvPr/>
        </p:nvSpPr>
        <p:spPr>
          <a:xfrm>
            <a:off x="1022350" y="1924000"/>
            <a:ext cx="5121212"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Arial" pitchFamily="34" charset="0"/>
                <a:ea typeface="Arial" pitchFamily="34" charset="-122"/>
                <a:cs typeface="Arial" pitchFamily="34" charset="-120"/>
              </a:rPr>
              <a:t>Where the images come from (94 images, 65 patients)</a:t>
            </a:r>
            <a:endParaRPr lang="en-US" sz="1300" dirty="0"/>
          </a:p>
        </p:txBody>
      </p:sp>
      <p:sp>
        <p:nvSpPr>
          <p:cNvPr id="6" name="Text 4"/>
          <p:cNvSpPr/>
          <p:nvPr/>
        </p:nvSpPr>
        <p:spPr>
          <a:xfrm>
            <a:off x="1022350" y="2249091"/>
            <a:ext cx="51212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Journal article figures · </a:t>
            </a:r>
            <a:r>
              <a:rPr lang="en-US" sz="1200" b="1" dirty="0">
                <a:solidFill>
                  <a:srgbClr val="3E4A5C"/>
                </a:solidFill>
                <a:latin typeface="Arial" pitchFamily="34" charset="0"/>
                <a:ea typeface="Arial" pitchFamily="34" charset="-122"/>
                <a:cs typeface="Arial" pitchFamily="34" charset="-120"/>
              </a:rPr>
              <a:t>39</a:t>
            </a:r>
            <a:endParaRPr lang="en-US" sz="1200" dirty="0"/>
          </a:p>
        </p:txBody>
      </p:sp>
      <p:sp>
        <p:nvSpPr>
          <p:cNvPr id="7" name="Shape 5"/>
          <p:cNvSpPr/>
          <p:nvPr/>
        </p:nvSpPr>
        <p:spPr>
          <a:xfrm>
            <a:off x="1022350" y="2500511"/>
            <a:ext cx="3302000" cy="165100"/>
          </a:xfrm>
          <a:prstGeom prst="roundRect">
            <a:avLst>
              <a:gd name="adj" fmla="val 15385"/>
            </a:avLst>
          </a:prstGeom>
          <a:solidFill>
            <a:srgbClr val="14213D"/>
          </a:solidFill>
          <a:ln/>
        </p:spPr>
      </p:sp>
      <p:sp>
        <p:nvSpPr>
          <p:cNvPr id="8" name="Text 6"/>
          <p:cNvSpPr/>
          <p:nvPr/>
        </p:nvSpPr>
        <p:spPr>
          <a:xfrm>
            <a:off x="1022350" y="2792611"/>
            <a:ext cx="51212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SIRM case reports, Italy · </a:t>
            </a:r>
            <a:r>
              <a:rPr lang="en-US" sz="1200" b="1" dirty="0">
                <a:solidFill>
                  <a:srgbClr val="3E4A5C"/>
                </a:solidFill>
                <a:latin typeface="Arial" pitchFamily="34" charset="0"/>
                <a:ea typeface="Arial" pitchFamily="34" charset="-122"/>
                <a:cs typeface="Arial" pitchFamily="34" charset="-120"/>
              </a:rPr>
              <a:t>26</a:t>
            </a:r>
            <a:endParaRPr lang="en-US" sz="1200" dirty="0"/>
          </a:p>
        </p:txBody>
      </p:sp>
      <p:sp>
        <p:nvSpPr>
          <p:cNvPr id="9" name="Shape 7"/>
          <p:cNvSpPr/>
          <p:nvPr/>
        </p:nvSpPr>
        <p:spPr>
          <a:xfrm>
            <a:off x="1022350" y="3044031"/>
            <a:ext cx="2203450" cy="165100"/>
          </a:xfrm>
          <a:prstGeom prst="roundRect">
            <a:avLst>
              <a:gd name="adj" fmla="val 15385"/>
            </a:avLst>
          </a:prstGeom>
          <a:solidFill>
            <a:srgbClr val="14213D"/>
          </a:solidFill>
          <a:ln/>
        </p:spPr>
      </p:sp>
      <p:sp>
        <p:nvSpPr>
          <p:cNvPr id="10" name="Text 8"/>
          <p:cNvSpPr/>
          <p:nvPr/>
        </p:nvSpPr>
        <p:spPr>
          <a:xfrm>
            <a:off x="1022350" y="3336131"/>
            <a:ext cx="51212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Radiopaedia · </a:t>
            </a:r>
            <a:r>
              <a:rPr lang="en-US" sz="1200" b="1" dirty="0">
                <a:solidFill>
                  <a:srgbClr val="3E4A5C"/>
                </a:solidFill>
                <a:latin typeface="Arial" pitchFamily="34" charset="0"/>
                <a:ea typeface="Arial" pitchFamily="34" charset="-122"/>
                <a:cs typeface="Arial" pitchFamily="34" charset="-120"/>
              </a:rPr>
              <a:t>18</a:t>
            </a:r>
            <a:endParaRPr lang="en-US" sz="1200" dirty="0"/>
          </a:p>
        </p:txBody>
      </p:sp>
      <p:sp>
        <p:nvSpPr>
          <p:cNvPr id="11" name="Shape 9"/>
          <p:cNvSpPr/>
          <p:nvPr/>
        </p:nvSpPr>
        <p:spPr>
          <a:xfrm>
            <a:off x="1022350" y="3587552"/>
            <a:ext cx="1524000" cy="165100"/>
          </a:xfrm>
          <a:prstGeom prst="roundRect">
            <a:avLst>
              <a:gd name="adj" fmla="val 15385"/>
            </a:avLst>
          </a:prstGeom>
          <a:solidFill>
            <a:srgbClr val="14213D"/>
          </a:solidFill>
          <a:ln/>
        </p:spPr>
      </p:sp>
      <p:sp>
        <p:nvSpPr>
          <p:cNvPr id="12" name="Text 10"/>
          <p:cNvSpPr/>
          <p:nvPr/>
        </p:nvSpPr>
        <p:spPr>
          <a:xfrm>
            <a:off x="1022350" y="3879652"/>
            <a:ext cx="51212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Academy of Medicine Singapore PDF · </a:t>
            </a:r>
            <a:r>
              <a:rPr lang="en-US" sz="1200" b="1" dirty="0">
                <a:solidFill>
                  <a:srgbClr val="3E4A5C"/>
                </a:solidFill>
                <a:latin typeface="Arial" pitchFamily="34" charset="0"/>
                <a:ea typeface="Arial" pitchFamily="34" charset="-122"/>
                <a:cs typeface="Arial" pitchFamily="34" charset="-120"/>
              </a:rPr>
              <a:t>8</a:t>
            </a:r>
            <a:endParaRPr lang="en-US" sz="1200" dirty="0"/>
          </a:p>
        </p:txBody>
      </p:sp>
      <p:sp>
        <p:nvSpPr>
          <p:cNvPr id="13" name="Shape 11"/>
          <p:cNvSpPr/>
          <p:nvPr/>
        </p:nvSpPr>
        <p:spPr>
          <a:xfrm>
            <a:off x="1022350" y="4131072"/>
            <a:ext cx="679450" cy="165100"/>
          </a:xfrm>
          <a:prstGeom prst="roundRect">
            <a:avLst>
              <a:gd name="adj" fmla="val 15385"/>
            </a:avLst>
          </a:prstGeom>
          <a:solidFill>
            <a:srgbClr val="14213D"/>
          </a:solidFill>
          <a:ln/>
        </p:spPr>
      </p:sp>
      <p:sp>
        <p:nvSpPr>
          <p:cNvPr id="14" name="Text 12"/>
          <p:cNvSpPr/>
          <p:nvPr/>
        </p:nvSpPr>
        <p:spPr>
          <a:xfrm>
            <a:off x="1022350" y="4423172"/>
            <a:ext cx="51212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Other case sites (Figure1, RSNA Case) · </a:t>
            </a:r>
            <a:r>
              <a:rPr lang="en-US" sz="1200" b="1" dirty="0">
                <a:solidFill>
                  <a:srgbClr val="3E4A5C"/>
                </a:solidFill>
                <a:latin typeface="Arial" pitchFamily="34" charset="0"/>
                <a:ea typeface="Arial" pitchFamily="34" charset="-122"/>
                <a:cs typeface="Arial" pitchFamily="34" charset="-120"/>
              </a:rPr>
              <a:t>3</a:t>
            </a:r>
            <a:endParaRPr lang="en-US" sz="1200" dirty="0"/>
          </a:p>
        </p:txBody>
      </p:sp>
      <p:sp>
        <p:nvSpPr>
          <p:cNvPr id="15" name="Shape 13"/>
          <p:cNvSpPr/>
          <p:nvPr/>
        </p:nvSpPr>
        <p:spPr>
          <a:xfrm>
            <a:off x="1022350" y="4674592"/>
            <a:ext cx="254000" cy="165100"/>
          </a:xfrm>
          <a:prstGeom prst="roundRect">
            <a:avLst>
              <a:gd name="adj" fmla="val 15385"/>
            </a:avLst>
          </a:prstGeom>
          <a:solidFill>
            <a:srgbClr val="14213D"/>
          </a:solidFill>
          <a:ln/>
        </p:spPr>
      </p:sp>
      <p:sp>
        <p:nvSpPr>
          <p:cNvPr id="16" name="Shape 14"/>
          <p:cNvSpPr/>
          <p:nvPr/>
        </p:nvSpPr>
        <p:spPr>
          <a:xfrm>
            <a:off x="6410325" y="1717625"/>
            <a:ext cx="4965700" cy="1616521"/>
          </a:xfrm>
          <a:prstGeom prst="roundRect">
            <a:avLst>
              <a:gd name="adj" fmla="val 6089"/>
            </a:avLst>
          </a:prstGeom>
          <a:solidFill>
            <a:srgbClr val="FDFDFB"/>
          </a:solidFill>
          <a:ln w="6350">
            <a:solidFill>
              <a:srgbClr val="DAD7CE"/>
            </a:solidFill>
            <a:prstDash val="solid"/>
          </a:ln>
        </p:spPr>
      </p:sp>
      <p:sp>
        <p:nvSpPr>
          <p:cNvPr id="17" name="Text 15"/>
          <p:cNvSpPr/>
          <p:nvPr/>
        </p:nvSpPr>
        <p:spPr>
          <a:xfrm>
            <a:off x="6616700" y="1924000"/>
            <a:ext cx="4689539"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Arial" pitchFamily="34" charset="0"/>
                <a:ea typeface="Arial" pitchFamily="34" charset="-122"/>
                <a:cs typeface="Arial" pitchFamily="34" charset="-120"/>
              </a:rPr>
              <a:t>Countries</a:t>
            </a:r>
            <a:endParaRPr lang="en-US" sz="1300" dirty="0"/>
          </a:p>
        </p:txBody>
      </p:sp>
      <p:sp>
        <p:nvSpPr>
          <p:cNvPr id="18" name="Text 16"/>
          <p:cNvSpPr/>
          <p:nvPr/>
        </p:nvSpPr>
        <p:spPr>
          <a:xfrm>
            <a:off x="6616700" y="2198291"/>
            <a:ext cx="468953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Italy 29 · China 12 · Spain 11 · Taiwan 8 · Vietnam 6 · USA 4 · Australia 2 · Canada, Israel, Sweden 1 each · </a:t>
            </a:r>
            <a:r>
              <a:rPr lang="en-US" sz="1200" b="1" dirty="0">
                <a:solidFill>
                  <a:srgbClr val="B5521B"/>
                </a:solidFill>
                <a:latin typeface="Arial" pitchFamily="34" charset="0"/>
                <a:ea typeface="Arial" pitchFamily="34" charset="-122"/>
                <a:cs typeface="Arial" pitchFamily="34" charset="-120"/>
              </a:rPr>
              <a:t>not recorded 19</a:t>
            </a:r>
            <a:endParaRPr lang="en-US" sz="1200" dirty="0"/>
          </a:p>
        </p:txBody>
      </p:sp>
      <p:sp>
        <p:nvSpPr>
          <p:cNvPr id="19" name="Text 17"/>
          <p:cNvSpPr/>
          <p:nvPr/>
        </p:nvSpPr>
        <p:spPr>
          <a:xfrm>
            <a:off x="6616700" y="2701131"/>
            <a:ext cx="468953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Dec 2019 to Mar 2020 only. No Africa, South America or South Asia.</a:t>
            </a:r>
            <a:endParaRPr lang="en-US" sz="1200" dirty="0"/>
          </a:p>
        </p:txBody>
      </p:sp>
      <p:sp>
        <p:nvSpPr>
          <p:cNvPr id="20" name="Shape 18"/>
          <p:cNvSpPr/>
          <p:nvPr/>
        </p:nvSpPr>
        <p:spPr>
          <a:xfrm>
            <a:off x="6410325" y="3492897"/>
            <a:ext cx="4965700" cy="1327001"/>
          </a:xfrm>
          <a:prstGeom prst="roundRect">
            <a:avLst>
              <a:gd name="adj" fmla="val 7417"/>
            </a:avLst>
          </a:prstGeom>
          <a:solidFill>
            <a:srgbClr val="FDFDFB"/>
          </a:solidFill>
          <a:ln w="6350">
            <a:solidFill>
              <a:srgbClr val="DAD7CE"/>
            </a:solidFill>
            <a:prstDash val="solid"/>
          </a:ln>
        </p:spPr>
      </p:sp>
      <p:sp>
        <p:nvSpPr>
          <p:cNvPr id="21" name="Text 19"/>
          <p:cNvSpPr/>
          <p:nvPr/>
        </p:nvSpPr>
        <p:spPr>
          <a:xfrm>
            <a:off x="6616700" y="3699272"/>
            <a:ext cx="4689539"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Arial" pitchFamily="34" charset="0"/>
                <a:ea typeface="Arial" pitchFamily="34" charset="-122"/>
                <a:cs typeface="Arial" pitchFamily="34" charset="-120"/>
              </a:rPr>
              <a:t>Ethics, registration and licensing</a:t>
            </a:r>
            <a:endParaRPr lang="en-US" sz="1300" dirty="0"/>
          </a:p>
        </p:txBody>
      </p:sp>
      <p:sp>
        <p:nvSpPr>
          <p:cNvPr id="22" name="Text 20"/>
          <p:cNvSpPr/>
          <p:nvPr/>
        </p:nvSpPr>
        <p:spPr>
          <a:xfrm>
            <a:off x="6616700" y="3973562"/>
            <a:ext cx="468953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Approved by CERSES (#CERSES-20-058-D); consent “obtained or waived”, in practice waived. Not registered. License not recorded for 66 of 94.</a:t>
            </a:r>
            <a:endParaRPr lang="en-US" sz="1200" dirty="0"/>
          </a:p>
        </p:txBody>
      </p:sp>
      <p:sp>
        <p:nvSpPr>
          <p:cNvPr id="23" name="Text 21"/>
          <p:cNvSpPr/>
          <p:nvPr/>
        </p:nvSpPr>
        <p:spPr>
          <a:xfrm>
            <a:off x="6407150" y="4975473"/>
            <a:ext cx="512121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21B"/>
                </a:solidFill>
                <a:latin typeface="Arial" pitchFamily="34" charset="0"/>
                <a:ea typeface="Arial" pitchFamily="34" charset="-122"/>
                <a:cs typeface="Arial" pitchFamily="34" charset="-120"/>
              </a:rPr>
              <a:t>Bias: sampling, institutional and demographic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B"/>
                </a:solidFill>
                <a:latin typeface="Arial" pitchFamily="34" charset="0"/>
                <a:ea typeface="Arial" pitchFamily="34" charset="-122"/>
                <a:cs typeface="Arial" pitchFamily="34" charset="-120"/>
              </a:rPr>
              <a:t>PART II · CRITIQUE ① DATA COLLECTION (2/2)</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Georgia" pitchFamily="18" charset="0"/>
                <a:ea typeface="Georgia" pitchFamily="18" charset="-122"/>
                <a:cs typeface="Georgia" pitchFamily="18" charset="-120"/>
              </a:rPr>
              <a:t>The cohort description does not match the data</a:t>
            </a:r>
            <a:endParaRPr lang="en-US" sz="2800" dirty="0"/>
          </a:p>
        </p:txBody>
      </p:sp>
      <p:sp>
        <p:nvSpPr>
          <p:cNvPr id="4" name="Shape 2"/>
          <p:cNvSpPr/>
          <p:nvPr/>
        </p:nvSpPr>
        <p:spPr>
          <a:xfrm>
            <a:off x="815975" y="1717625"/>
            <a:ext cx="5168900" cy="4324400"/>
          </a:xfrm>
          <a:prstGeom prst="roundRect">
            <a:avLst>
              <a:gd name="adj" fmla="val 2276"/>
            </a:avLst>
          </a:prstGeom>
          <a:solidFill>
            <a:srgbClr val="FDFDFB"/>
          </a:solidFill>
          <a:ln w="6350">
            <a:solidFill>
              <a:srgbClr val="DAD7CE"/>
            </a:solidFill>
            <a:prstDash val="solid"/>
          </a:ln>
        </p:spPr>
      </p:sp>
      <p:sp>
        <p:nvSpPr>
          <p:cNvPr id="5" name="Text 3"/>
          <p:cNvSpPr/>
          <p:nvPr/>
        </p:nvSpPr>
        <p:spPr>
          <a:xfrm>
            <a:off x="1022350" y="1924000"/>
            <a:ext cx="489883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Arial" pitchFamily="34" charset="0"/>
                <a:ea typeface="Arial" pitchFamily="34" charset="-122"/>
                <a:cs typeface="Arial" pitchFamily="34" charset="-120"/>
              </a:rPr>
              <a:t>Demographics: paper vs dataset</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35050" y="2261791"/>
          <a:ext cx="4743450" cy="1663402"/>
        </p:xfrm>
        <a:graphic>
          <a:graphicData uri="http://schemas.openxmlformats.org/drawingml/2006/table">
            <a:tbl>
              <a:tblPr/>
              <a:tblGrid>
                <a:gridCol w="1470470"/>
                <a:gridCol w="1090994"/>
                <a:gridCol w="1090994"/>
                <a:gridCol w="1090994"/>
              </a:tblGrid>
              <a:tr h="332680">
                <a:tc>
                  <a:txBody>
                    <a:bodyPr/>
                    <a:lstStyle/>
                    <a:p>
                      <a:pPr indent="0" marL="0">
                        <a:lnSpc>
                          <a:spcPts val="1680"/>
                        </a:lnSpc>
                        <a:buNone/>
                      </a:pPr>
                      <a:r>
                        <a:rPr lang="en-US" sz="1200" b="1" dirty="0">
                          <a:solidFill>
                            <a:srgbClr val="3E4A5C"/>
                          </a:solidFill>
                          <a:latin typeface="Arial" pitchFamily="34" charset="0"/>
                          <a:ea typeface="Arial" pitchFamily="34" charset="-122"/>
                          <a:cs typeface="Arial" pitchFamily="34" charset="-120"/>
                        </a:rPr>
                        <a:t>Item</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BBBB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BB9"/>
                      </a:solidFill>
                      <a:prstDash val="solid"/>
                      <a:round/>
                      <a:headEnd type="none" w="med" len="med"/>
                      <a:tailEnd type="none" w="med" len="med"/>
                    </a:lnB>
                    <a:solidFill>
                      <a:srgbClr val="EAEAE8"/>
                    </a:solidFill>
                  </a:tcPr>
                </a:tc>
                <a:tc>
                  <a:txBody>
                    <a:bodyPr/>
                    <a:lstStyle/>
                    <a:p>
                      <a:pPr algn="r" indent="0" marL="0">
                        <a:lnSpc>
                          <a:spcPts val="1680"/>
                        </a:lnSpc>
                        <a:buNone/>
                      </a:pPr>
                      <a:r>
                        <a:rPr lang="en-US" sz="1200" b="1" dirty="0">
                          <a:solidFill>
                            <a:srgbClr val="3E4A5C"/>
                          </a:solidFill>
                          <a:latin typeface="Arial" pitchFamily="34" charset="0"/>
                          <a:ea typeface="Arial" pitchFamily="34" charset="-122"/>
                          <a:cs typeface="Arial" pitchFamily="34" charset="-120"/>
                        </a:rPr>
                        <a:t>Paper</a:t>
                      </a:r>
                      <a:endParaRPr lang="en-US" sz="1200" dirty="0">
                        <a:latin typeface="Arial" charset="0"/>
                        <a:ea typeface="Arial" charset="0"/>
                        <a:cs typeface="Arial" charset="0"/>
                      </a:endParaRPr>
                    </a:p>
                  </a:txBody>
                  <a:tcPr marL="53340" marR="53340" marT="53340" marB="53340" anchor="t">
                    <a:lnL w="12700" cap="flat" cmpd="sng" algn="ctr">
                      <a:solidFill>
                        <a:srgbClr val="BBBBB9"/>
                      </a:solidFill>
                      <a:prstDash val="solid"/>
                      <a:round/>
                      <a:headEnd type="none" w="med" len="med"/>
                      <a:tailEnd type="none" w="med" len="med"/>
                    </a:lnL>
                    <a:lnR w="12700" cap="flat" cmpd="sng" algn="ctr">
                      <a:solidFill>
                        <a:srgbClr val="BBBB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BB9"/>
                      </a:solidFill>
                      <a:prstDash val="solid"/>
                      <a:round/>
                      <a:headEnd type="none" w="med" len="med"/>
                      <a:tailEnd type="none" w="med" len="med"/>
                    </a:lnB>
                    <a:solidFill>
                      <a:srgbClr val="EAEAE8"/>
                    </a:solidFill>
                  </a:tcPr>
                </a:tc>
                <a:tc>
                  <a:txBody>
                    <a:bodyPr/>
                    <a:lstStyle/>
                    <a:p>
                      <a:pPr algn="r" indent="0" marL="0">
                        <a:lnSpc>
                          <a:spcPts val="1680"/>
                        </a:lnSpc>
                        <a:buNone/>
                      </a:pPr>
                      <a:r>
                        <a:rPr lang="en-US" sz="1200" b="1" dirty="0">
                          <a:solidFill>
                            <a:srgbClr val="3E4A5C"/>
                          </a:solidFill>
                          <a:latin typeface="Arial" pitchFamily="34" charset="0"/>
                          <a:ea typeface="Arial" pitchFamily="34" charset="-122"/>
                          <a:cs typeface="Arial" pitchFamily="34" charset="-120"/>
                        </a:rPr>
                        <a:t>Images</a:t>
                      </a:r>
                      <a:endParaRPr lang="en-US" sz="1200" dirty="0">
                        <a:latin typeface="Arial" charset="0"/>
                        <a:ea typeface="Arial" charset="0"/>
                        <a:cs typeface="Arial" charset="0"/>
                      </a:endParaRPr>
                    </a:p>
                  </a:txBody>
                  <a:tcPr marL="53340" marR="53340" marT="53340" marB="53340" anchor="t">
                    <a:lnL w="12700" cap="flat" cmpd="sng" algn="ctr">
                      <a:solidFill>
                        <a:srgbClr val="BBBBB9"/>
                      </a:solidFill>
                      <a:prstDash val="solid"/>
                      <a:round/>
                      <a:headEnd type="none" w="med" len="med"/>
                      <a:tailEnd type="none" w="med" len="med"/>
                    </a:lnL>
                    <a:lnR w="12700" cap="flat" cmpd="sng" algn="ctr">
                      <a:solidFill>
                        <a:srgbClr val="BBBB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BB9"/>
                      </a:solidFill>
                      <a:prstDash val="solid"/>
                      <a:round/>
                      <a:headEnd type="none" w="med" len="med"/>
                      <a:tailEnd type="none" w="med" len="med"/>
                    </a:lnB>
                    <a:solidFill>
                      <a:srgbClr val="EAEAE8"/>
                    </a:solidFill>
                  </a:tcPr>
                </a:tc>
                <a:tc>
                  <a:txBody>
                    <a:bodyPr/>
                    <a:lstStyle/>
                    <a:p>
                      <a:pPr algn="r" indent="0" marL="0">
                        <a:lnSpc>
                          <a:spcPts val="1680"/>
                        </a:lnSpc>
                        <a:buNone/>
                      </a:pPr>
                      <a:r>
                        <a:rPr lang="en-US" sz="1200" b="1" dirty="0">
                          <a:solidFill>
                            <a:srgbClr val="3E4A5C"/>
                          </a:solidFill>
                          <a:latin typeface="Arial" pitchFamily="34" charset="0"/>
                          <a:ea typeface="Arial" pitchFamily="34" charset="-122"/>
                          <a:cs typeface="Arial" pitchFamily="34" charset="-120"/>
                        </a:rPr>
                        <a:t>Patients</a:t>
                      </a:r>
                      <a:endParaRPr lang="en-US" sz="1200" dirty="0">
                        <a:latin typeface="Arial" charset="0"/>
                        <a:ea typeface="Arial" charset="0"/>
                        <a:cs typeface="Arial" charset="0"/>
                      </a:endParaRPr>
                    </a:p>
                  </a:txBody>
                  <a:tcPr marL="53340" marR="53340" marT="53340" marB="53340" anchor="t">
                    <a:lnL w="12700" cap="flat" cmpd="sng" algn="ctr">
                      <a:solidFill>
                        <a:srgbClr val="BBBBB9"/>
                      </a:solidFill>
                      <a:prstDash val="solid"/>
                      <a:round/>
                      <a:headEnd type="none" w="med" len="med"/>
                      <a:tailEnd type="none" w="med" len="med"/>
                    </a:lnL>
                    <a:lnR w="12700" cap="flat" cmpd="sng" algn="ctr">
                      <a:solidFill>
                        <a:srgbClr val="BBBB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BB9"/>
                      </a:solidFill>
                      <a:prstDash val="solid"/>
                      <a:round/>
                      <a:headEnd type="none" w="med" len="med"/>
                      <a:tailEnd type="none" w="med" len="med"/>
                    </a:lnB>
                    <a:solidFill>
                      <a:srgbClr val="EAEAE8"/>
                    </a:solidFill>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Male / female</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BB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44 / 36</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BB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45 / 32</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BB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31 / 24</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BB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Sex missing</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2B5AD"/>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B5AD"/>
                      </a:solidFill>
                      <a:prstDash val="solid"/>
                      <a:round/>
                      <a:headEnd type="none" w="med" len="med"/>
                      <a:tailEnd type="none" w="med" len="med"/>
                    </a:lnB>
                    <a:solidFill>
                      <a:srgbClr val="F3E3D8"/>
                    </a:solidFill>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53340" marR="53340" marT="53340" marB="53340" anchor="t">
                    <a:lnL w="12700" cap="flat" cmpd="sng" algn="ctr">
                      <a:solidFill>
                        <a:srgbClr val="C2B5AD"/>
                      </a:solidFill>
                      <a:prstDash val="solid"/>
                      <a:round/>
                      <a:headEnd type="none" w="med" len="med"/>
                      <a:tailEnd type="none" w="med" len="med"/>
                    </a:lnL>
                    <a:lnR w="12700" cap="flat" cmpd="sng" algn="ctr">
                      <a:solidFill>
                        <a:srgbClr val="C2B5AD"/>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B5AD"/>
                      </a:solidFill>
                      <a:prstDash val="solid"/>
                      <a:round/>
                      <a:headEnd type="none" w="med" len="med"/>
                      <a:tailEnd type="none" w="med" len="med"/>
                    </a:lnB>
                    <a:solidFill>
                      <a:srgbClr val="F3E3D8"/>
                    </a:solidFill>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17</a:t>
                      </a:r>
                      <a:endParaRPr lang="en-US" sz="1200" dirty="0">
                        <a:latin typeface="Arial" charset="0"/>
                        <a:ea typeface="Arial" charset="0"/>
                        <a:cs typeface="Arial" charset="0"/>
                      </a:endParaRPr>
                    </a:p>
                  </a:txBody>
                  <a:tcPr marL="53340" marR="53340" marT="53340" marB="53340" anchor="t">
                    <a:lnL w="12700" cap="flat" cmpd="sng" algn="ctr">
                      <a:solidFill>
                        <a:srgbClr val="C2B5AD"/>
                      </a:solidFill>
                      <a:prstDash val="solid"/>
                      <a:round/>
                      <a:headEnd type="none" w="med" len="med"/>
                      <a:tailEnd type="none" w="med" len="med"/>
                    </a:lnL>
                    <a:lnR w="12700" cap="flat" cmpd="sng" algn="ctr">
                      <a:solidFill>
                        <a:srgbClr val="C2B5AD"/>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B5AD"/>
                      </a:solidFill>
                      <a:prstDash val="solid"/>
                      <a:round/>
                      <a:headEnd type="none" w="med" len="med"/>
                      <a:tailEnd type="none" w="med" len="med"/>
                    </a:lnB>
                    <a:solidFill>
                      <a:srgbClr val="F3E3D8"/>
                    </a:solidFill>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53340" marR="53340" marT="53340" marB="53340" anchor="t">
                    <a:lnL w="12700" cap="flat" cmpd="sng" algn="ctr">
                      <a:solidFill>
                        <a:srgbClr val="C2B5AD"/>
                      </a:solidFill>
                      <a:prstDash val="solid"/>
                      <a:round/>
                      <a:headEnd type="none" w="med" len="med"/>
                      <a:tailEnd type="none" w="med" len="med"/>
                    </a:lnL>
                    <a:lnR w="12700" cap="flat" cmpd="sng" algn="ctr">
                      <a:solidFill>
                        <a:srgbClr val="C2B5AD"/>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B5AD"/>
                      </a:solidFill>
                      <a:prstDash val="solid"/>
                      <a:round/>
                      <a:headEnd type="none" w="med" len="med"/>
                      <a:tailEnd type="none" w="med" len="med"/>
                    </a:lnB>
                    <a:solidFill>
                      <a:srgbClr val="F3E3D8"/>
                    </a:solidFill>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Age</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B5AD"/>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56 ± 14.8</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B5AD"/>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56.6 ± 15.2</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B5AD"/>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57.0 ± 15.7</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B5AD"/>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Age missing</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2B5AD"/>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B5AD"/>
                      </a:solidFill>
                      <a:prstDash val="solid"/>
                      <a:round/>
                      <a:headEnd type="none" w="med" len="med"/>
                      <a:tailEnd type="none" w="med" len="med"/>
                    </a:lnB>
                    <a:solidFill>
                      <a:srgbClr val="F3E3D8"/>
                    </a:solidFill>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53340" marR="53340" marT="53340" marB="53340" anchor="t">
                    <a:lnL w="12700" cap="flat" cmpd="sng" algn="ctr">
                      <a:solidFill>
                        <a:srgbClr val="C2B5AD"/>
                      </a:solidFill>
                      <a:prstDash val="solid"/>
                      <a:round/>
                      <a:headEnd type="none" w="med" len="med"/>
                      <a:tailEnd type="none" w="med" len="med"/>
                    </a:lnL>
                    <a:lnR w="12700" cap="flat" cmpd="sng" algn="ctr">
                      <a:solidFill>
                        <a:srgbClr val="C2B5AD"/>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B5AD"/>
                      </a:solidFill>
                      <a:prstDash val="solid"/>
                      <a:round/>
                      <a:headEnd type="none" w="med" len="med"/>
                      <a:tailEnd type="none" w="med" len="med"/>
                    </a:lnB>
                    <a:solidFill>
                      <a:srgbClr val="F3E3D8"/>
                    </a:solidFill>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53340" marR="53340" marT="53340" marB="53340" anchor="t">
                    <a:lnL w="12700" cap="flat" cmpd="sng" algn="ctr">
                      <a:solidFill>
                        <a:srgbClr val="C2B5AD"/>
                      </a:solidFill>
                      <a:prstDash val="solid"/>
                      <a:round/>
                      <a:headEnd type="none" w="med" len="med"/>
                      <a:tailEnd type="none" w="med" len="med"/>
                    </a:lnL>
                    <a:lnR w="12700" cap="flat" cmpd="sng" algn="ctr">
                      <a:solidFill>
                        <a:srgbClr val="C2B5AD"/>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B5AD"/>
                      </a:solidFill>
                      <a:prstDash val="solid"/>
                      <a:round/>
                      <a:headEnd type="none" w="med" len="med"/>
                      <a:tailEnd type="none" w="med" len="med"/>
                    </a:lnB>
                    <a:solidFill>
                      <a:srgbClr val="F3E3D8"/>
                    </a:solidFill>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53340" marR="53340" marT="53340" marB="53340" anchor="t">
                    <a:lnL w="12700" cap="flat" cmpd="sng" algn="ctr">
                      <a:solidFill>
                        <a:srgbClr val="C2B5AD"/>
                      </a:solidFill>
                      <a:prstDash val="solid"/>
                      <a:round/>
                      <a:headEnd type="none" w="med" len="med"/>
                      <a:tailEnd type="none" w="med" len="med"/>
                    </a:lnL>
                    <a:lnR w="12700" cap="flat" cmpd="sng" algn="ctr">
                      <a:solidFill>
                        <a:srgbClr val="C2B5AD"/>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B5AD"/>
                      </a:solidFill>
                      <a:prstDash val="solid"/>
                      <a:round/>
                      <a:headEnd type="none" w="med" len="med"/>
                      <a:tailEnd type="none" w="med" len="med"/>
                    </a:lnB>
                    <a:solidFill>
                      <a:srgbClr val="F3E3D8"/>
                    </a:solidFill>
                  </a:tcPr>
                </a:tc>
              </a:tr>
            </a:tbl>
          </a:graphicData>
        </a:graphic>
      </p:graphicFrame>
      <p:sp>
        <p:nvSpPr>
          <p:cNvPr id="7" name="Text 4"/>
          <p:cNvSpPr/>
          <p:nvPr/>
        </p:nvSpPr>
        <p:spPr>
          <a:xfrm>
            <a:off x="1022350" y="4052193"/>
            <a:ext cx="489883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The paper states “there was no missing data”. Its 44 + 36 = 80 matches neither the 77 images nor the 55 patients with a recorded sex.</a:t>
            </a:r>
            <a:endParaRPr lang="en-US" sz="1200" dirty="0"/>
          </a:p>
        </p:txBody>
      </p:sp>
      <p:sp>
        <p:nvSpPr>
          <p:cNvPr id="8" name="Shape 5"/>
          <p:cNvSpPr/>
          <p:nvPr/>
        </p:nvSpPr>
        <p:spPr>
          <a:xfrm>
            <a:off x="6197600" y="1720800"/>
            <a:ext cx="5175250" cy="4318050"/>
          </a:xfrm>
          <a:prstGeom prst="roundRect">
            <a:avLst>
              <a:gd name="adj" fmla="val 2206"/>
            </a:avLst>
          </a:prstGeom>
          <a:solidFill>
            <a:srgbClr val="FDFDFB"/>
          </a:solidFill>
          <a:ln w="12700">
            <a:solidFill>
              <a:srgbClr val="B5521B"/>
            </a:solidFill>
            <a:prstDash val="solid"/>
          </a:ln>
        </p:spPr>
      </p:sp>
      <p:sp>
        <p:nvSpPr>
          <p:cNvPr id="9" name="Text 6"/>
          <p:cNvSpPr/>
          <p:nvPr/>
        </p:nvSpPr>
        <p:spPr>
          <a:xfrm>
            <a:off x="6407150" y="1930350"/>
            <a:ext cx="489883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Arial" pitchFamily="34" charset="0"/>
                <a:ea typeface="Arial" pitchFamily="34" charset="-122"/>
                <a:cs typeface="Arial" pitchFamily="34" charset="-120"/>
              </a:rPr>
              <a:t>Inclusion criterion: “94 PA images”</a:t>
            </a:r>
            <a:endParaRPr lang="en-US" sz="1300" dirty="0"/>
          </a:p>
        </p:txBody>
      </p:sp>
      <p:sp>
        <p:nvSpPr>
          <p:cNvPr id="10" name="Text 7"/>
          <p:cNvSpPr/>
          <p:nvPr/>
        </p:nvSpPr>
        <p:spPr>
          <a:xfrm>
            <a:off x="6407150" y="2255441"/>
            <a:ext cx="2176760"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B5521B"/>
                </a:solidFill>
                <a:latin typeface="Georgia" pitchFamily="18" charset="0"/>
                <a:ea typeface="Georgia" pitchFamily="18" charset="-122"/>
                <a:cs typeface="Georgia" pitchFamily="18" charset="-120"/>
              </a:rPr>
              <a:t>17 / 94</a:t>
            </a:r>
            <a:endParaRPr lang="en-US" sz="4800" dirty="0"/>
          </a:p>
        </p:txBody>
      </p:sp>
      <p:sp>
        <p:nvSpPr>
          <p:cNvPr id="11" name="Text 8"/>
          <p:cNvSpPr/>
          <p:nvPr/>
        </p:nvSpPr>
        <p:spPr>
          <a:xfrm>
            <a:off x="8583910" y="2484041"/>
            <a:ext cx="26567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are not reliably PA (18%)</a:t>
            </a:r>
            <a:endParaRPr lang="en-US" sz="1200" dirty="0"/>
          </a:p>
        </p:txBody>
      </p:sp>
      <p:sp>
        <p:nvSpPr>
          <p:cNvPr id="12" name="Text 9"/>
          <p:cNvSpPr/>
          <p:nvPr/>
        </p:nvSpPr>
        <p:spPr>
          <a:xfrm>
            <a:off x="6518656" y="3052961"/>
            <a:ext cx="4779709" cy="1092002"/>
          </a:xfrm>
          <a:prstGeom prst="rect">
            <a:avLst/>
          </a:prstGeom>
          <a:noFill/>
          <a:ln/>
        </p:spPr>
        <p:txBody>
          <a:bodyPr wrap="square" lIns="0" tIns="0" rIns="0" bIns="0" rtlCol="0" anchor="t">
            <a:normAutofit/>
          </a:bodyPr>
          <a:lstStyle/>
          <a:p>
            <a:pPr algn="l" marL="142494" indent="-142494">
              <a:lnSpc>
                <a:spcPts val="1680"/>
              </a:lnSpc>
              <a:buSzPct val="100000"/>
              <a:buChar char="•"/>
            </a:pPr>
            <a:r>
              <a:rPr lang="en-US" sz="1200" dirty="0">
                <a:solidFill>
                  <a:srgbClr val="3E4A5C"/>
                </a:solidFill>
                <a:latin typeface="Arial" pitchFamily="34" charset="0"/>
                <a:ea typeface="Arial" pitchFamily="34" charset="-122"/>
                <a:cs typeface="Arial" pitchFamily="34" charset="-120"/>
              </a:rPr>
              <a:t>11 relabelled AP or AP supine in the current metadata</a:t>
            </a:r>
            <a:endParaRPr lang="en-US" sz="1200" dirty="0"/>
          </a:p>
          <a:p>
            <a:pPr algn="l" marL="142494" indent="-142494">
              <a:lnSpc>
                <a:spcPts val="1680"/>
              </a:lnSpc>
              <a:buSzPct val="100000"/>
              <a:buChar char="•"/>
            </a:pPr>
            <a:r>
              <a:rPr lang="en-US" sz="1200" dirty="0">
                <a:solidFill>
                  <a:srgbClr val="3E4A5C"/>
                </a:solidFill>
                <a:latin typeface="Arial" pitchFamily="34" charset="0"/>
                <a:ea typeface="Arial" pitchFamily="34" charset="-122"/>
                <a:cs typeface="Arial" pitchFamily="34" charset="-120"/>
              </a:rPr>
              <a:t>1 removed from the dataset</a:t>
            </a:r>
            <a:endParaRPr lang="en-US" sz="1200" dirty="0"/>
          </a:p>
          <a:p>
            <a:pPr algn="l" marL="142494" indent="-142494">
              <a:lnSpc>
                <a:spcPts val="1680"/>
              </a:lnSpc>
              <a:buSzPct val="100000"/>
              <a:buChar char="•"/>
            </a:pPr>
            <a:r>
              <a:rPr lang="en-US" sz="1200" dirty="0">
                <a:solidFill>
                  <a:srgbClr val="3E4A5C"/>
                </a:solidFill>
                <a:latin typeface="Arial" pitchFamily="34" charset="0"/>
                <a:ea typeface="Arial" pitchFamily="34" charset="-122"/>
                <a:cs typeface="Arial" pitchFamily="34" charset="-120"/>
              </a:rPr>
              <a:t>5 more show burned-in “AP Sitting”, “MOBILE ERECT AP” or “CLINO” (lying) but are still labelled PA</a:t>
            </a:r>
            <a:endParaRPr lang="en-US" sz="1200" dirty="0"/>
          </a:p>
          <a:p>
            <a:pPr algn="l" marL="142494" indent="-142494">
              <a:lnSpc>
                <a:spcPts val="1680"/>
              </a:lnSpc>
              <a:buSzPct val="100000"/>
              <a:buChar char="•"/>
            </a:pPr>
            <a:r>
              <a:rPr lang="en-US" sz="1200" dirty="0">
                <a:solidFill>
                  <a:srgbClr val="3E4A5C"/>
                </a:solidFill>
                <a:latin typeface="Arial" pitchFamily="34" charset="0"/>
                <a:ea typeface="Arial" pitchFamily="34" charset="-122"/>
                <a:cs typeface="Arial" pitchFamily="34" charset="-120"/>
              </a:rPr>
              <a:t>No exclusion criteria stated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A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B"/>
                </a:solidFill>
                <a:latin typeface="Arial" pitchFamily="34" charset="0"/>
                <a:ea typeface="Arial" pitchFamily="34" charset="-122"/>
                <a:cs typeface="Arial" pitchFamily="34" charset="-120"/>
              </a:rPr>
              <a:t>PART II · CRITIQUE ② DATA PREPARATION · ANNOTATION AND MEASUREMENT BIAS</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Georgia" pitchFamily="18" charset="0"/>
                <a:ea typeface="Georgia" pitchFamily="18" charset="-122"/>
                <a:cs typeface="Georgia" pitchFamily="18" charset="-120"/>
              </a:rPr>
              <a:t>Subjective labels on cropped figure images</a:t>
            </a:r>
            <a:endParaRPr lang="en-US" sz="2800" dirty="0"/>
          </a:p>
        </p:txBody>
      </p:sp>
      <p:sp>
        <p:nvSpPr>
          <p:cNvPr id="4" name="Shape 2"/>
          <p:cNvSpPr/>
          <p:nvPr/>
        </p:nvSpPr>
        <p:spPr>
          <a:xfrm>
            <a:off x="812800" y="1689050"/>
            <a:ext cx="3420517" cy="2661841"/>
          </a:xfrm>
          <a:prstGeom prst="roundRect">
            <a:avLst>
              <a:gd name="adj" fmla="val 3817"/>
            </a:avLst>
          </a:prstGeom>
          <a:solidFill>
            <a:srgbClr val="FDFDFB"/>
          </a:solidFill>
          <a:ln/>
        </p:spPr>
      </p:sp>
      <p:sp>
        <p:nvSpPr>
          <p:cNvPr id="5" name="Shape 3"/>
          <p:cNvSpPr/>
          <p:nvPr/>
        </p:nvSpPr>
        <p:spPr>
          <a:xfrm>
            <a:off x="939800" y="1816050"/>
            <a:ext cx="3162300" cy="1905000"/>
          </a:xfrm>
          <a:prstGeom prst="roundRect">
            <a:avLst>
              <a:gd name="adj" fmla="val 2667"/>
            </a:avLst>
          </a:prstGeom>
          <a:solidFill>
            <a:srgbClr val="14213D"/>
          </a:solidFill>
          <a:ln/>
        </p:spPr>
      </p:sp>
      <p:pic>
        <p:nvPicPr>
          <p:cNvPr id="6" name="Image 0" descr="Chest X-ray from an RSNA paper with burned-in text AP Sitting, I.D. Portable and Lossy compressed at the top">    </p:cNvPr>
          <p:cNvPicPr>
            <a:picLocks noChangeAspect="1"/>
          </p:cNvPicPr>
          <p:nvPr/>
        </p:nvPicPr>
        <p:blipFill>
          <a:blip r:embed="rId1"/>
          <a:stretch>
            <a:fillRect/>
          </a:stretch>
        </p:blipFill>
        <p:spPr>
          <a:xfrm>
            <a:off x="1680898" y="1816050"/>
            <a:ext cx="1680104" cy="1905000"/>
          </a:xfrm>
          <a:prstGeom prst="rect">
            <a:avLst/>
          </a:prstGeom>
        </p:spPr>
      </p:pic>
      <p:sp>
        <p:nvSpPr>
          <p:cNvPr id="7" name="Text 4"/>
          <p:cNvSpPr/>
          <p:nvPr/>
        </p:nvSpPr>
        <p:spPr>
          <a:xfrm>
            <a:off x="939800" y="3797250"/>
            <a:ext cx="326151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Journal figure: “AP Sitting, Portable, Lossy compressed”, labelled PA</a:t>
            </a:r>
            <a:endParaRPr lang="en-US" sz="1200" dirty="0"/>
          </a:p>
        </p:txBody>
      </p:sp>
      <p:sp>
        <p:nvSpPr>
          <p:cNvPr id="8" name="Shape 5"/>
          <p:cNvSpPr/>
          <p:nvPr/>
        </p:nvSpPr>
        <p:spPr>
          <a:xfrm>
            <a:off x="4385717" y="1689050"/>
            <a:ext cx="3420566" cy="2661841"/>
          </a:xfrm>
          <a:prstGeom prst="roundRect">
            <a:avLst>
              <a:gd name="adj" fmla="val 3817"/>
            </a:avLst>
          </a:prstGeom>
          <a:solidFill>
            <a:srgbClr val="FDFDFB"/>
          </a:solidFill>
          <a:ln/>
        </p:spPr>
      </p:sp>
      <p:sp>
        <p:nvSpPr>
          <p:cNvPr id="9" name="Shape 6"/>
          <p:cNvSpPr/>
          <p:nvPr/>
        </p:nvSpPr>
        <p:spPr>
          <a:xfrm>
            <a:off x="4512717" y="1816050"/>
            <a:ext cx="3162300" cy="1905000"/>
          </a:xfrm>
          <a:prstGeom prst="roundRect">
            <a:avLst>
              <a:gd name="adj" fmla="val 2667"/>
            </a:avLst>
          </a:prstGeom>
          <a:solidFill>
            <a:srgbClr val="14213D"/>
          </a:solidFill>
          <a:ln/>
        </p:spPr>
      </p:sp>
      <p:pic>
        <p:nvPicPr>
          <p:cNvPr id="10" name="Image 1" descr="Chest X-ray cropped from a Singapore PDF with an R marker, a white arrow pointing at the left lung and the panel letter a">    </p:cNvPr>
          <p:cNvPicPr>
            <a:picLocks noChangeAspect="1"/>
          </p:cNvPicPr>
          <p:nvPr/>
        </p:nvPicPr>
        <p:blipFill>
          <a:blip r:embed="rId2"/>
          <a:stretch>
            <a:fillRect/>
          </a:stretch>
        </p:blipFill>
        <p:spPr>
          <a:xfrm>
            <a:off x="5239263" y="1816050"/>
            <a:ext cx="1709208" cy="1905000"/>
          </a:xfrm>
          <a:prstGeom prst="rect">
            <a:avLst/>
          </a:prstGeom>
        </p:spPr>
      </p:pic>
      <p:sp>
        <p:nvSpPr>
          <p:cNvPr id="11" name="Text 7"/>
          <p:cNvSpPr/>
          <p:nvPr/>
        </p:nvSpPr>
        <p:spPr>
          <a:xfrm>
            <a:off x="4512717" y="3797250"/>
            <a:ext cx="326156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PDF crop, 522 × 582 px: lesion arrow seen by raters and model</a:t>
            </a:r>
            <a:endParaRPr lang="en-US" sz="1200" dirty="0"/>
          </a:p>
        </p:txBody>
      </p:sp>
      <p:sp>
        <p:nvSpPr>
          <p:cNvPr id="12" name="Shape 8"/>
          <p:cNvSpPr/>
          <p:nvPr/>
        </p:nvSpPr>
        <p:spPr>
          <a:xfrm>
            <a:off x="7958683" y="1689050"/>
            <a:ext cx="3420517" cy="2661841"/>
          </a:xfrm>
          <a:prstGeom prst="roundRect">
            <a:avLst>
              <a:gd name="adj" fmla="val 3817"/>
            </a:avLst>
          </a:prstGeom>
          <a:solidFill>
            <a:srgbClr val="FDFDFB"/>
          </a:solidFill>
          <a:ln/>
        </p:spPr>
      </p:sp>
      <p:sp>
        <p:nvSpPr>
          <p:cNvPr id="13" name="Shape 9"/>
          <p:cNvSpPr/>
          <p:nvPr/>
        </p:nvSpPr>
        <p:spPr>
          <a:xfrm>
            <a:off x="8085683" y="1816050"/>
            <a:ext cx="3162300" cy="1905000"/>
          </a:xfrm>
          <a:prstGeom prst="roundRect">
            <a:avLst>
              <a:gd name="adj" fmla="val 2667"/>
            </a:avLst>
          </a:prstGeom>
          <a:solidFill>
            <a:srgbClr val="14213D"/>
          </a:solidFill>
          <a:ln/>
        </p:spPr>
      </p:sp>
      <p:pic>
        <p:nvPicPr>
          <p:cNvPr id="14" name="Image 2" descr="Pixelated chest X-ray cropped from a Nature Medicine figure, burned-in text MOBILE ERECT AP">    </p:cNvPr>
          <p:cNvPicPr>
            <a:picLocks noChangeAspect="1"/>
          </p:cNvPicPr>
          <p:nvPr/>
        </p:nvPicPr>
        <p:blipFill>
          <a:blip r:embed="rId3"/>
          <a:stretch>
            <a:fillRect/>
          </a:stretch>
        </p:blipFill>
        <p:spPr>
          <a:xfrm>
            <a:off x="8691844" y="1816050"/>
            <a:ext cx="1949979" cy="1905000"/>
          </a:xfrm>
          <a:prstGeom prst="rect">
            <a:avLst/>
          </a:prstGeom>
        </p:spPr>
      </p:pic>
      <p:sp>
        <p:nvSpPr>
          <p:cNvPr id="15" name="Text 10"/>
          <p:cNvSpPr/>
          <p:nvPr/>
        </p:nvSpPr>
        <p:spPr>
          <a:xfrm>
            <a:off x="8085683" y="3797250"/>
            <a:ext cx="326151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Nature figure crop, 255 × 249 px: “MOBILE ERECT AP”</a:t>
            </a:r>
            <a:endParaRPr lang="en-US" sz="1200" dirty="0"/>
          </a:p>
        </p:txBody>
      </p:sp>
      <p:sp>
        <p:nvSpPr>
          <p:cNvPr id="16" name="Shape 11"/>
          <p:cNvSpPr/>
          <p:nvPr/>
        </p:nvSpPr>
        <p:spPr>
          <a:xfrm>
            <a:off x="812800" y="4528691"/>
            <a:ext cx="3420517" cy="1147961"/>
          </a:xfrm>
          <a:prstGeom prst="roundRect">
            <a:avLst>
              <a:gd name="adj" fmla="val 8850"/>
            </a:avLst>
          </a:prstGeom>
          <a:solidFill>
            <a:srgbClr val="FDFDFB"/>
          </a:solidFill>
          <a:ln/>
        </p:spPr>
      </p:sp>
      <p:sp>
        <p:nvSpPr>
          <p:cNvPr id="17" name="Text 12"/>
          <p:cNvSpPr/>
          <p:nvPr/>
        </p:nvSpPr>
        <p:spPr>
          <a:xfrm>
            <a:off x="965200" y="4681091"/>
            <a:ext cx="3209188"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B5521B"/>
                </a:solidFill>
                <a:latin typeface="Georgia" pitchFamily="18" charset="0"/>
                <a:ea typeface="Georgia" pitchFamily="18" charset="-122"/>
                <a:cs typeface="Georgia" pitchFamily="18" charset="-120"/>
              </a:rPr>
              <a:t>κ = 0.45</a:t>
            </a:r>
            <a:endParaRPr lang="en-US" sz="2800" dirty="0"/>
          </a:p>
        </p:txBody>
      </p:sp>
      <p:sp>
        <p:nvSpPr>
          <p:cNvPr id="18" name="Text 13"/>
          <p:cNvSpPr/>
          <p:nvPr/>
        </p:nvSpPr>
        <p:spPr>
          <a:xfrm>
            <a:off x="965200" y="5097611"/>
            <a:ext cx="320918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opacity agreement (extent 0.71). Only the 3-rater mean is public</a:t>
            </a:r>
            <a:endParaRPr lang="en-US" sz="1200" dirty="0"/>
          </a:p>
        </p:txBody>
      </p:sp>
      <p:sp>
        <p:nvSpPr>
          <p:cNvPr id="19" name="Shape 14"/>
          <p:cNvSpPr/>
          <p:nvPr/>
        </p:nvSpPr>
        <p:spPr>
          <a:xfrm>
            <a:off x="4385717" y="4528691"/>
            <a:ext cx="3420566" cy="1147961"/>
          </a:xfrm>
          <a:prstGeom prst="roundRect">
            <a:avLst>
              <a:gd name="adj" fmla="val 8850"/>
            </a:avLst>
          </a:prstGeom>
          <a:solidFill>
            <a:srgbClr val="FDFDFB"/>
          </a:solidFill>
          <a:ln/>
        </p:spPr>
      </p:sp>
      <p:sp>
        <p:nvSpPr>
          <p:cNvPr id="20" name="Text 15"/>
          <p:cNvSpPr/>
          <p:nvPr/>
        </p:nvSpPr>
        <p:spPr>
          <a:xfrm>
            <a:off x="4538117" y="4681091"/>
            <a:ext cx="3209239"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B5521B"/>
                </a:solidFill>
                <a:latin typeface="Georgia" pitchFamily="18" charset="0"/>
                <a:ea typeface="Georgia" pitchFamily="18" charset="-122"/>
                <a:cs typeface="Georgia" pitchFamily="18" charset="-120"/>
              </a:rPr>
              <a:t>25 / 94</a:t>
            </a:r>
            <a:endParaRPr lang="en-US" sz="2800" dirty="0"/>
          </a:p>
        </p:txBody>
      </p:sp>
      <p:sp>
        <p:nvSpPr>
          <p:cNvPr id="21" name="Text 16"/>
          <p:cNvSpPr/>
          <p:nvPr/>
        </p:nvSpPr>
        <p:spPr>
          <a:xfrm>
            <a:off x="4538117" y="5097611"/>
            <a:ext cx="320923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missing age (17 sex, 59 survival), yet “no missing data”</a:t>
            </a:r>
            <a:endParaRPr lang="en-US" sz="1200" dirty="0"/>
          </a:p>
        </p:txBody>
      </p:sp>
      <p:sp>
        <p:nvSpPr>
          <p:cNvPr id="22" name="Shape 17"/>
          <p:cNvSpPr/>
          <p:nvPr/>
        </p:nvSpPr>
        <p:spPr>
          <a:xfrm>
            <a:off x="7958683" y="4528691"/>
            <a:ext cx="3420517" cy="1147961"/>
          </a:xfrm>
          <a:prstGeom prst="roundRect">
            <a:avLst>
              <a:gd name="adj" fmla="val 8850"/>
            </a:avLst>
          </a:prstGeom>
          <a:solidFill>
            <a:srgbClr val="FDFDFB"/>
          </a:solidFill>
          <a:ln/>
        </p:spPr>
      </p:sp>
      <p:sp>
        <p:nvSpPr>
          <p:cNvPr id="23" name="Text 18"/>
          <p:cNvSpPr/>
          <p:nvPr/>
        </p:nvSpPr>
        <p:spPr>
          <a:xfrm>
            <a:off x="8111083" y="4681091"/>
            <a:ext cx="3209188"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B5521B"/>
                </a:solidFill>
                <a:latin typeface="Georgia" pitchFamily="18" charset="0"/>
                <a:ea typeface="Georgia" pitchFamily="18" charset="-122"/>
                <a:cs typeface="Georgia" pitchFamily="18" charset="-120"/>
              </a:rPr>
              <a:t>24 / 94</a:t>
            </a:r>
            <a:endParaRPr lang="en-US" sz="2800" dirty="0"/>
          </a:p>
        </p:txBody>
      </p:sp>
      <p:sp>
        <p:nvSpPr>
          <p:cNvPr id="24" name="Text 19"/>
          <p:cNvSpPr/>
          <p:nvPr/>
        </p:nvSpPr>
        <p:spPr>
          <a:xfrm>
            <a:off x="8111083" y="5097611"/>
            <a:ext cx="320918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under 600 px; burned-in text kept, no augmentation</a:t>
            </a:r>
            <a:endParaRPr lang="en-US" sz="1200" dirty="0"/>
          </a:p>
        </p:txBody>
      </p:sp>
    </p:spTree>
  </p:cSld>
  <p:clrMapOvr>
    <a:masterClrMapping/>
  </p:clrMapOvr>
</p:sld>
</file>

<file path=ppt/theme/theme1.xml><?xml version="1.0" encoding="utf-8"?>
<a:theme xmlns:a="http://schemas.openxmlformats.org/drawingml/2006/main" name="DSA5206 Critique C">
  <a:themeElements>
    <a:clrScheme name="DSA5206 Critique C">
      <a:dk1>
        <a:srgbClr val="14213D"/>
      </a:dk1>
      <a:lt1>
        <a:srgbClr val="F7F6F2"/>
      </a:lt1>
      <a:dk2>
        <a:srgbClr val="4D566A"/>
      </a:dk2>
      <a:lt2>
        <a:srgbClr val="E0E1E0"/>
      </a:lt2>
      <a:accent1>
        <a:srgbClr val="B5521B"/>
      </a:accent1>
      <a:accent2>
        <a:srgbClr val="3E4A5C"/>
      </a:accent2>
      <a:accent3>
        <a:srgbClr val="9AA0A6"/>
      </a:accent3>
      <a:accent4>
        <a:srgbClr val="6F7685"/>
      </a:accent4>
      <a:accent5>
        <a:srgbClr val="9196A1"/>
      </a:accent5>
      <a:accent6>
        <a:srgbClr val="B3B6BC"/>
      </a:accent6>
      <a:hlink>
        <a:srgbClr val="0563C1"/>
      </a:hlink>
      <a:folHlink>
        <a:srgbClr val="954F72"/>
      </a:folHlink>
    </a:clrScheme>
    <a:fontScheme name="DSA5206 Critique C">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DSA5206 Critique C</dc:title>
  <dc:subject/>
  <dc:creator/>
  <cp:lastModifiedBy/>
  <cp:revision>1</cp:revision>
  <dcterms:created xsi:type="dcterms:W3CDTF">2026-10-28T12:22:22Z</dcterms:created>
  <dcterms:modified xsi:type="dcterms:W3CDTF">2026-10-28T12:22:22Z</dcterms:modified>
</cp:coreProperties>
</file>